
<file path=[Content_Types].xml><?xml version="1.0" encoding="utf-8"?>
<Types xmlns="http://schemas.openxmlformats.org/package/2006/content-types">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8" r:id="rId3"/>
    <p:sldId id="257" r:id="rId4"/>
    <p:sldId id="275" r:id="rId5"/>
    <p:sldId id="259" r:id="rId6"/>
    <p:sldId id="260" r:id="rId7"/>
    <p:sldId id="261" r:id="rId8"/>
    <p:sldId id="273" r:id="rId9"/>
    <p:sldId id="272" r:id="rId10"/>
    <p:sldId id="274" r:id="rId11"/>
    <p:sldId id="262" r:id="rId12"/>
    <p:sldId id="263" r:id="rId13"/>
    <p:sldId id="264" r:id="rId14"/>
    <p:sldId id="265" r:id="rId15"/>
    <p:sldId id="266" r:id="rId16"/>
    <p:sldId id="267" r:id="rId17"/>
    <p:sldId id="276" r:id="rId18"/>
    <p:sldId id="268" r:id="rId19"/>
    <p:sldId id="269" r:id="rId20"/>
    <p:sldId id="270" r:id="rId21"/>
    <p:sldId id="271"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67"/>
    <p:restoredTop sz="94610"/>
  </p:normalViewPr>
  <p:slideViewPr>
    <p:cSldViewPr snapToGrid="0" snapToObjects="1">
      <p:cViewPr varScale="1">
        <p:scale>
          <a:sx n="108" d="100"/>
          <a:sy n="108" d="100"/>
        </p:scale>
        <p:origin x="528" y="18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7422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frustration in the room. This talk is about moving a specific class of security bugs out of the CI pipeline and into the compiler, where developers already live. Set expectations: ~10 minutes of framing, then a live walkthrough of compile-sast, then a discussion pod. Thank BSides Houston and Kristen.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emotional beat first — everyone in the room knows this feeling. The point is not that CI SAST is bad. The point is that its feedback arrives after the developer has mentally closed the ticket. Cost of that context switch is what we're going to price out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max on the bio. Do not read the card. Mention that this project came out of the day-job frustrations you're about to describe. If audience is mostly security folks, lean on the developer background. If it's mostly developers, lean on the AppSec pivot.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make this about "AI is bad." The audience will tune out. The framing is: even if AI-generated code is exactly as safe as human code, the volume argument stands. The point at the right of the slide is the takeaway. Read it out loud, pause, move on. If someone objects that Copilot suggestions are getting better, agree — and note that the compile-time guardrail costs nothing regardless of who’s right about that.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real numbers here — everyone in the audience has this curve internalized. The specific claim: moving detection two stages left (from CI to compile) is not incremental, it is the difference between "still in flow" and "context switch." That is what the rest of the talk is about.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is the sentence the talk hangs on. Read it, pause, then land the follow-up: the compiler is trusted in a way CI is not. A red squiggle or a build failure is not "the security team pushing back on my PR" — it's just the code not being finished yet.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"what is it" slide. Keep it fast — do not read the tiles. Emphasize: this is a real published thing, not a research prototype. People can go pull it after the talk.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honesty. Naming what this tool isn’t buys credibility for what it is. Head off the "why not Semgrep / CodeQL?" question here so it doesn’t derail the demo. Land the bottom line: this sits alongside your existing SAST, it doesn’t replace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282D5-011E-1655-1655-8981FAF18A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BFCC6A-96A5-558E-FAD4-8F0CF739D6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1C8A97-209A-6A4B-8134-ED52680A8300}"/>
              </a:ext>
            </a:extLst>
          </p:cNvPr>
          <p:cNvSpPr>
            <a:spLocks noGrp="1"/>
          </p:cNvSpPr>
          <p:nvPr>
            <p:ph type="body" idx="1"/>
          </p:nvPr>
        </p:nvSpPr>
        <p:spPr/>
        <p:txBody>
          <a:bodyPr/>
          <a:lstStyle/>
          <a:p>
            <a:r>
              <a:rPr lang="en-US" dirty="0"/>
              <a:t>This is the "what is it" slide. Keep it fast — do not read the tiles. Emphasize: this is a real published thing, not a research prototype. People can go pull it after the talk.</a:t>
            </a:r>
          </a:p>
        </p:txBody>
      </p:sp>
      <p:sp>
        <p:nvSpPr>
          <p:cNvPr id="4" name="Slide Number Placeholder 3">
            <a:extLst>
              <a:ext uri="{FF2B5EF4-FFF2-40B4-BE49-F238E27FC236}">
                <a16:creationId xmlns:a16="http://schemas.microsoft.com/office/drawing/2014/main" id="{6C3F14C9-EBD3-DC62-ABD7-4850F18C2C1A}"/>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525559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answer is layered. Technical: K2 exposes a checker API that Kotlin didn’t have before. Comparative: C# has done this for years with Roslyn, so the pattern is proven; Go’s ecosystem chose to keep analysis outside the compiler and it works fine there. Personal: I use Kotlin at work, so the feedback loop for building rules was tightest here. Do NOT oversell Kotlin over Go or C# — the point is that the shape fits, not that Kotlin is better.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go deep on FIR internals unless someone asks — save it for the discussion pod. The point of this slide is: it is a regular compiler plugin, in the same lifecycle as type checking.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ten. Point out that they map cleanly to OWASP / CWE — this is a deliberate choice for audit-ability. Say which three you're about to walk through in code, then move on quickly.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Live-demo hint: keep the example small enough that the whole audience sees the offending line at once. Call out that the message points at the exact expression, not the file.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crowd-pleaser — everyone recognizes it. Mention: Kotlin string templates make this class especially easy to write and easy to catch — the interpolation is right there in the AST.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specificity of the diagnostic: the plugin knows this is a signing context, not a checksum. That distinction is why the rule is safe to make blocking.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switching to the terminal: set expectations for what "failure" looks like on stage. Have a backup: if any command hangs, cut back to slide 13 and talk through the install instead. Font size in your terminal: bump to at least 18pt so the back row can read.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2F240-223B-D838-4784-3DBD262F2A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D393A-58B2-E63D-F833-32B29C6E77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17E4A3-02E7-648B-DACC-C8A6AABDCEF0}"/>
              </a:ext>
            </a:extLst>
          </p:cNvPr>
          <p:cNvSpPr>
            <a:spLocks noGrp="1"/>
          </p:cNvSpPr>
          <p:nvPr>
            <p:ph type="body" idx="1"/>
          </p:nvPr>
        </p:nvSpPr>
        <p:spPr/>
        <p:txBody>
          <a:bodyPr/>
          <a:lstStyle/>
          <a:p>
            <a:r>
              <a:rPr lang="en-US" dirty="0"/>
              <a:t>Point out the specificity of the diagnostic: the plugin knows this is a signing context, not a checksum. That distinction is why the rule is safe to make blocking.</a:t>
            </a:r>
          </a:p>
        </p:txBody>
      </p:sp>
      <p:sp>
        <p:nvSpPr>
          <p:cNvPr id="4" name="Slide Number Placeholder 3">
            <a:extLst>
              <a:ext uri="{FF2B5EF4-FFF2-40B4-BE49-F238E27FC236}">
                <a16:creationId xmlns:a16="http://schemas.microsoft.com/office/drawing/2014/main" id="{82A2F073-489D-CAAB-B4BD-91A3AE51DB25}"/>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3324694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permission to try it on Monday. Update the version numbers and plugin ID on this slide before shipping the deck.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moving — it's a bridge to the discussion pod. Pick the two items you actually want feedback on and highlight those.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the deck end with a "thanks slide" that trails off. Ask a discussion prompt out loud and wait through the silence. If nobody bites, name someone in the room whose work you know is related and hand the mic to them. Have contact ready — the pod is the actual value for you.</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371B1-E587-32BA-53CD-E67ACE70E6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181C6D-D5DB-5807-74A4-AC2C7E89F6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7B4F4F-E4F4-54C6-E0FC-DCDD6FBB50BF}"/>
              </a:ext>
            </a:extLst>
          </p:cNvPr>
          <p:cNvSpPr>
            <a:spLocks noGrp="1"/>
          </p:cNvSpPr>
          <p:nvPr>
            <p:ph type="body" idx="1"/>
          </p:nvPr>
        </p:nvSpPr>
        <p:spPr/>
        <p:txBody>
          <a:bodyPr/>
          <a:lstStyle/>
          <a:p>
            <a:r>
              <a:rPr lang="en-US" dirty="0"/>
              <a:t>Keep this slide moving — it's a bridge to the discussion pod. Pick the two items you actually want feedback on and highlight those.</a:t>
            </a:r>
          </a:p>
        </p:txBody>
      </p:sp>
      <p:sp>
        <p:nvSpPr>
          <p:cNvPr id="4" name="Slide Number Placeholder 3">
            <a:extLst>
              <a:ext uri="{FF2B5EF4-FFF2-40B4-BE49-F238E27FC236}">
                <a16:creationId xmlns:a16="http://schemas.microsoft.com/office/drawing/2014/main" id="{0A05A9D2-5B3A-7362-693B-3CE342A0CAA4}"/>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91297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1449"/>
        </a:solidFill>
        <a:effectLst/>
      </p:bgPr>
    </p:bg>
    <p:spTree>
      <p:nvGrpSpPr>
        <p:cNvPr id="1" name=""/>
        <p:cNvGrpSpPr/>
        <p:nvPr/>
      </p:nvGrpSpPr>
      <p:grpSpPr>
        <a:xfrm>
          <a:off x="0" y="0"/>
          <a:ext cx="0" cy="0"/>
          <a:chOff x="0" y="0"/>
          <a:chExt cx="0" cy="0"/>
        </a:xfrm>
      </p:grpSpPr>
      <p:sp>
        <p:nvSpPr>
          <p:cNvPr id="2" name="Shape 0"/>
          <p:cNvSpPr/>
          <p:nvPr/>
        </p:nvSpPr>
        <p:spPr>
          <a:xfrm>
            <a:off x="-1463040" y="-731520"/>
            <a:ext cx="6766560" cy="6766560"/>
          </a:xfrm>
          <a:prstGeom prst="ellipse">
            <a:avLst/>
          </a:prstGeom>
          <a:solidFill>
            <a:srgbClr val="3D1A5C">
              <a:alpha val="85000"/>
            </a:srgbClr>
          </a:solidFill>
          <a:ln/>
        </p:spPr>
        <p:txBody>
          <a:bodyPr/>
          <a:lstStyle/>
          <a:p>
            <a:endParaRPr lang="en-US"/>
          </a:p>
        </p:txBody>
      </p:sp>
      <p:sp>
        <p:nvSpPr>
          <p:cNvPr id="3" name="Shape 1"/>
          <p:cNvSpPr/>
          <p:nvPr/>
        </p:nvSpPr>
        <p:spPr>
          <a:xfrm>
            <a:off x="2651760" y="-1554480"/>
            <a:ext cx="6035040" cy="6035040"/>
          </a:xfrm>
          <a:prstGeom prst="ellipse">
            <a:avLst/>
          </a:prstGeom>
          <a:solidFill>
            <a:srgbClr val="F900A0">
              <a:alpha val="45000"/>
            </a:srgbClr>
          </a:solidFill>
          <a:ln/>
        </p:spPr>
        <p:txBody>
          <a:bodyPr/>
          <a:lstStyle/>
          <a:p>
            <a:endParaRPr lang="en-US"/>
          </a:p>
        </p:txBody>
      </p:sp>
      <p:sp>
        <p:nvSpPr>
          <p:cNvPr id="4" name="Shape 2"/>
          <p:cNvSpPr/>
          <p:nvPr/>
        </p:nvSpPr>
        <p:spPr>
          <a:xfrm>
            <a:off x="6766560" y="-548640"/>
            <a:ext cx="6217920" cy="6217920"/>
          </a:xfrm>
          <a:prstGeom prst="ellipse">
            <a:avLst/>
          </a:prstGeom>
          <a:solidFill>
            <a:srgbClr val="4B1A5C">
              <a:alpha val="80000"/>
            </a:srgbClr>
          </a:solidFill>
          <a:ln/>
        </p:spPr>
        <p:txBody>
          <a:bodyPr/>
          <a:lstStyle/>
          <a:p>
            <a:endParaRPr lang="en-US"/>
          </a:p>
        </p:txBody>
      </p:sp>
      <p:sp>
        <p:nvSpPr>
          <p:cNvPr id="5" name="Text 3"/>
          <p:cNvSpPr txBox="1"/>
          <p:nvPr/>
        </p:nvSpPr>
        <p:spPr>
          <a:xfrm>
            <a:off x="822960" y="2468880"/>
            <a:ext cx="10545775" cy="1188720"/>
          </a:xfrm>
          <a:prstGeom prst="rect">
            <a:avLst/>
          </a:prstGeom>
          <a:noFill/>
          <a:ln/>
        </p:spPr>
        <p:txBody>
          <a:bodyPr wrap="square" lIns="0" tIns="0" rIns="0" bIns="0" rtlCol="0" anchor="ctr"/>
          <a:lstStyle/>
          <a:p>
            <a:pPr marL="0" indent="0" algn="ctr">
              <a:buNone/>
            </a:pPr>
            <a:r>
              <a:rPr lang="en-US" sz="8400" b="1" dirty="0">
                <a:solidFill>
                  <a:srgbClr val="FFFFFF"/>
                </a:solidFill>
                <a:latin typeface="Calibri" pitchFamily="34" charset="0"/>
                <a:ea typeface="Calibri" pitchFamily="34" charset="-122"/>
                <a:cs typeface="Calibri" pitchFamily="34" charset="-120"/>
              </a:rPr>
              <a:t>compile-sast</a:t>
            </a:r>
            <a:endParaRPr lang="en-US" sz="8400" dirty="0"/>
          </a:p>
        </p:txBody>
      </p:sp>
      <p:sp>
        <p:nvSpPr>
          <p:cNvPr id="6" name="Text 4"/>
          <p:cNvSpPr txBox="1"/>
          <p:nvPr/>
        </p:nvSpPr>
        <p:spPr>
          <a:xfrm>
            <a:off x="822960" y="3794760"/>
            <a:ext cx="10545775" cy="548640"/>
          </a:xfrm>
          <a:prstGeom prst="rect">
            <a:avLst/>
          </a:prstGeom>
          <a:noFill/>
          <a:ln/>
        </p:spPr>
        <p:txBody>
          <a:bodyPr wrap="square" lIns="0" tIns="0" rIns="0" bIns="0" rtlCol="0" anchor="ctr"/>
          <a:lstStyle/>
          <a:p>
            <a:pPr marL="0" indent="0" algn="ctr">
              <a:buNone/>
            </a:pPr>
            <a:r>
              <a:rPr lang="en-US" sz="2200" dirty="0">
                <a:solidFill>
                  <a:srgbClr val="E4DEF6"/>
                </a:solidFill>
                <a:latin typeface="Calibri" pitchFamily="34" charset="0"/>
                <a:ea typeface="Calibri" pitchFamily="34" charset="-122"/>
                <a:cs typeface="Calibri" pitchFamily="34" charset="-120"/>
              </a:rPr>
              <a:t>Vulnerabilities as build failures, not CI failures.</a:t>
            </a:r>
            <a:endParaRPr lang="en-US" sz="2200" dirty="0"/>
          </a:p>
        </p:txBody>
      </p:sp>
      <p:sp>
        <p:nvSpPr>
          <p:cNvPr id="7" name="Text 5"/>
          <p:cNvSpPr txBox="1"/>
          <p:nvPr/>
        </p:nvSpPr>
        <p:spPr>
          <a:xfrm>
            <a:off x="822960" y="6035040"/>
            <a:ext cx="5486400" cy="64008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Whitney Zilton</a:t>
            </a:r>
            <a:endParaRPr lang="en-US" sz="1500" dirty="0"/>
          </a:p>
          <a:p>
            <a:pPr marL="0" indent="0" algn="l">
              <a:buNone/>
            </a:pPr>
            <a:r>
              <a:rPr lang="en-US" sz="1200" dirty="0">
                <a:solidFill>
                  <a:srgbClr val="E4DEF6"/>
                </a:solidFill>
                <a:latin typeface="Calibri" pitchFamily="34" charset="0"/>
                <a:ea typeface="Calibri" pitchFamily="34" charset="-122"/>
                <a:cs typeface="Calibri" pitchFamily="34" charset="-120"/>
              </a:rPr>
              <a:t>BSides Houston  ·  September 17,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WHY</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cs typeface="Calibri" pitchFamily="34" charset="-120"/>
              </a:rPr>
              <a:t>Motivation for building compile-</a:t>
            </a:r>
            <a:r>
              <a:rPr lang="en-US" sz="4000" dirty="0" err="1">
                <a:solidFill>
                  <a:srgbClr val="201449"/>
                </a:solidFill>
                <a:latin typeface="Calibri" pitchFamily="34" charset="0"/>
                <a:cs typeface="Calibri" pitchFamily="34" charset="-120"/>
              </a:rPr>
              <a:t>sast</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7" name="Text 5"/>
          <p:cNvSpPr txBox="1"/>
          <p:nvPr/>
        </p:nvSpPr>
        <p:spPr>
          <a:xfrm>
            <a:off x="548640" y="1965960"/>
            <a:ext cx="5943600" cy="4114800"/>
          </a:xfrm>
          <a:prstGeom prst="rect">
            <a:avLst/>
          </a:prstGeom>
          <a:noFill/>
          <a:ln/>
        </p:spPr>
        <p:txBody>
          <a:bodyPr wrap="square" lIns="0" tIns="0" rIns="0" bIns="0" rtlCol="0" anchor="t"/>
          <a:lstStyle/>
          <a:p>
            <a:pPr marL="0" indent="0" algn="l">
              <a:buNone/>
            </a:pPr>
            <a:r>
              <a:rPr lang="en-US" sz="2000" b="1" i="1" dirty="0">
                <a:solidFill>
                  <a:srgbClr val="201449"/>
                </a:solidFill>
                <a:latin typeface="Calibri" pitchFamily="34" charset="0"/>
                <a:ea typeface="Calibri" pitchFamily="34" charset="-122"/>
                <a:cs typeface="Calibri" pitchFamily="34" charset="-120"/>
              </a:rPr>
              <a:t>I finished the Jira ticket in my head.</a:t>
            </a:r>
            <a:endParaRPr lang="en-US" sz="2000" dirty="0"/>
          </a:p>
          <a:p>
            <a:pPr marL="0" indent="0" algn="l">
              <a:buNone/>
            </a:pPr>
            <a:endParaRPr lang="en-US" sz="2000" dirty="0"/>
          </a:p>
          <a:p>
            <a:pPr marL="0" indent="0" algn="l">
              <a:buNone/>
            </a:pPr>
            <a:r>
              <a:rPr lang="en-US" sz="1500" dirty="0">
                <a:solidFill>
                  <a:srgbClr val="201449"/>
                </a:solidFill>
                <a:latin typeface="Calibri" pitchFamily="34" charset="0"/>
                <a:ea typeface="Calibri" pitchFamily="34" charset="-122"/>
                <a:cs typeface="Calibri" pitchFamily="34" charset="-120"/>
              </a:rPr>
              <a:t>Code compiles. Tests all pass. Configs are in order. I’m done, right? Right?!</a:t>
            </a:r>
            <a:endParaRPr lang="en-US" sz="2000" dirty="0"/>
          </a:p>
          <a:p>
            <a:pPr marL="0" indent="0" algn="l">
              <a:buNone/>
            </a:pPr>
            <a:endParaRPr lang="en-US" sz="2000" dirty="0"/>
          </a:p>
          <a:p>
            <a:pPr marL="0" indent="0" algn="l">
              <a:buNone/>
            </a:pPr>
            <a:r>
              <a:rPr lang="en-US" sz="1400" dirty="0">
                <a:solidFill>
                  <a:srgbClr val="201449"/>
                </a:solidFill>
                <a:latin typeface="Calibri" pitchFamily="34" charset="0"/>
                <a:ea typeface="Calibri" pitchFamily="34" charset="-122"/>
                <a:cs typeface="Calibri" pitchFamily="34" charset="-120"/>
              </a:rPr>
              <a:t>Time to push up my branch…  only to see the SAST scan in my ci/cd pipeline failed.</a:t>
            </a:r>
            <a:endParaRPr lang="en-US" sz="2000" dirty="0"/>
          </a:p>
          <a:p>
            <a:pPr marL="0" indent="0" algn="l">
              <a:buNone/>
            </a:pPr>
            <a:endParaRPr lang="en-US" sz="2000" dirty="0"/>
          </a:p>
          <a:p>
            <a:pPr marL="0" indent="0" algn="l">
              <a:buNone/>
            </a:pPr>
            <a:r>
              <a:rPr lang="en-US" sz="1500" b="1" dirty="0">
                <a:solidFill>
                  <a:srgbClr val="F900A0"/>
                </a:solidFill>
                <a:latin typeface="Calibri" pitchFamily="34" charset="0"/>
                <a:ea typeface="Calibri" pitchFamily="34" charset="-122"/>
                <a:cs typeface="Calibri" pitchFamily="34" charset="-120"/>
              </a:rPr>
              <a:t>How can I find security vulnerabilities earlier in the SDLC?</a:t>
            </a:r>
            <a:endParaRPr lang="en-US" sz="2000" dirty="0"/>
          </a:p>
        </p:txBody>
      </p:sp>
      <p:pic>
        <p:nvPicPr>
          <p:cNvPr id="12" name="Picture 11" descr="github-checks.png">
            <a:extLst>
              <a:ext uri="{FF2B5EF4-FFF2-40B4-BE49-F238E27FC236}">
                <a16:creationId xmlns:a16="http://schemas.microsoft.com/office/drawing/2014/main" id="{E4D579A7-B102-060A-C3FB-05334ECDA448}"/>
              </a:ext>
            </a:extLst>
          </p:cNvPr>
          <p:cNvPicPr>
            <a:picLocks noChangeAspect="1"/>
          </p:cNvPicPr>
          <p:nvPr/>
        </p:nvPicPr>
        <p:blipFill>
          <a:blip r:embed="rId3"/>
          <a:stretch>
            <a:fillRect/>
          </a:stretch>
        </p:blipFill>
        <p:spPr>
          <a:xfrm>
            <a:off x="6605303" y="1965960"/>
            <a:ext cx="5322759" cy="33480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ABOUT ME</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cs typeface="Calibri" pitchFamily="34" charset="-120"/>
              </a:rPr>
              <a:t>Background</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6" name="Text 4"/>
          <p:cNvSpPr txBox="1"/>
          <p:nvPr/>
        </p:nvSpPr>
        <p:spPr>
          <a:xfrm>
            <a:off x="7985455" y="6492240"/>
            <a:ext cx="3657600" cy="228600"/>
          </a:xfrm>
          <a:prstGeom prst="rect">
            <a:avLst/>
          </a:prstGeom>
          <a:noFill/>
          <a:ln/>
        </p:spPr>
        <p:txBody>
          <a:bodyPr wrap="square" lIns="0" tIns="0" rIns="0" bIns="0" rtlCol="0" anchor="ctr"/>
          <a:lstStyle/>
          <a:p>
            <a:pPr marL="0" indent="0" algn="r">
              <a:buNone/>
            </a:pPr>
            <a:r>
              <a:rPr lang="en-US" sz="900" dirty="0">
                <a:solidFill>
                  <a:srgbClr val="6E6B7A"/>
                </a:solidFill>
                <a:latin typeface="Calibri" pitchFamily="34" charset="0"/>
                <a:ea typeface="Calibri" pitchFamily="34" charset="-122"/>
                <a:cs typeface="Calibri" pitchFamily="34" charset="-120"/>
              </a:rPr>
              <a:t>ziltonportfolio.io</a:t>
            </a:r>
            <a:endParaRPr lang="en-US" sz="900" dirty="0"/>
          </a:p>
        </p:txBody>
      </p:sp>
      <p:sp>
        <p:nvSpPr>
          <p:cNvPr id="7" name="Text 5"/>
          <p:cNvSpPr txBox="1"/>
          <p:nvPr/>
        </p:nvSpPr>
        <p:spPr>
          <a:xfrm>
            <a:off x="548640" y="2011680"/>
            <a:ext cx="5669280" cy="2743200"/>
          </a:xfrm>
          <a:prstGeom prst="rect">
            <a:avLst/>
          </a:prstGeom>
          <a:noFill/>
          <a:ln/>
        </p:spPr>
        <p:txBody>
          <a:bodyPr wrap="square" lIns="0" tIns="0" rIns="0" bIns="0" rtlCol="0" anchor="t"/>
          <a:lstStyle/>
          <a:p>
            <a:pPr marL="0" indent="0" algn="l">
              <a:buNone/>
            </a:pPr>
            <a:r>
              <a:rPr lang="en-US" sz="1600" b="1" dirty="0">
                <a:solidFill>
                  <a:srgbClr val="201449"/>
                </a:solidFill>
                <a:latin typeface="Calibri" pitchFamily="34" charset="0"/>
                <a:ea typeface="Calibri" pitchFamily="34" charset="-122"/>
                <a:cs typeface="Calibri" pitchFamily="34" charset="-120"/>
              </a:rPr>
              <a:t>Backend software engineer with over 5 years of experience.</a:t>
            </a:r>
            <a:endParaRPr lang="en-US" sz="1600" dirty="0"/>
          </a:p>
          <a:p>
            <a:pPr marL="0" indent="0" algn="l">
              <a:buNone/>
            </a:pPr>
            <a:endParaRPr lang="en-US" sz="1600" dirty="0"/>
          </a:p>
          <a:p>
            <a:pPr marL="0" indent="0" algn="l">
              <a:buNone/>
            </a:pPr>
            <a:r>
              <a:rPr lang="en-US" sz="1600" dirty="0"/>
              <a:t>I’ve worked in lots of teams on different languages: </a:t>
            </a:r>
            <a:r>
              <a:rPr lang="en-US" sz="1600" dirty="0">
                <a:solidFill>
                  <a:srgbClr val="201449"/>
                </a:solidFill>
                <a:ea typeface="Calibri" pitchFamily="34" charset="-122"/>
                <a:cs typeface="Calibri" pitchFamily="34" charset="-120"/>
              </a:rPr>
              <a:t>Go, Java, Kotlin, Python. Lots of Kafka-based microservices.</a:t>
            </a:r>
          </a:p>
          <a:p>
            <a:pPr marL="0" indent="0" algn="l">
              <a:buNone/>
            </a:pPr>
            <a:endParaRPr lang="en-US" sz="1600" dirty="0">
              <a:solidFill>
                <a:srgbClr val="201449"/>
              </a:solidFill>
              <a:ea typeface="Calibri" pitchFamily="34" charset="-122"/>
              <a:cs typeface="Calibri" pitchFamily="34" charset="-120"/>
            </a:endParaRPr>
          </a:p>
          <a:p>
            <a:pPr marL="0" indent="0" algn="l">
              <a:buNone/>
            </a:pPr>
            <a:r>
              <a:rPr lang="en-US" sz="1600" dirty="0">
                <a:solidFill>
                  <a:srgbClr val="201449"/>
                </a:solidFill>
                <a:ea typeface="Calibri" pitchFamily="34" charset="-122"/>
                <a:cs typeface="Calibri" pitchFamily="34" charset="-120"/>
              </a:rPr>
              <a:t>I’ve led threat modeling exercises, SAST/DAST/SCA integration, </a:t>
            </a:r>
            <a:r>
              <a:rPr lang="en-US" sz="1600" dirty="0" err="1">
                <a:solidFill>
                  <a:srgbClr val="201449"/>
                </a:solidFill>
                <a:ea typeface="Calibri" pitchFamily="34" charset="-122"/>
                <a:cs typeface="Calibri" pitchFamily="34" charset="-120"/>
              </a:rPr>
              <a:t>pentest</a:t>
            </a:r>
            <a:r>
              <a:rPr lang="en-US" sz="1600" dirty="0">
                <a:solidFill>
                  <a:srgbClr val="201449"/>
                </a:solidFill>
                <a:ea typeface="Calibri" pitchFamily="34" charset="-122"/>
                <a:cs typeface="Calibri" pitchFamily="34" charset="-120"/>
              </a:rPr>
              <a:t> coordination, and CVE remediation on teams.</a:t>
            </a:r>
          </a:p>
          <a:p>
            <a:pPr marL="0" indent="0" algn="l">
              <a:buNone/>
            </a:pPr>
            <a:endParaRPr lang="en-US" sz="1600" dirty="0">
              <a:solidFill>
                <a:srgbClr val="201449"/>
              </a:solidFill>
              <a:ea typeface="Calibri" pitchFamily="34" charset="-122"/>
              <a:cs typeface="Calibri" pitchFamily="34" charset="-120"/>
            </a:endParaRPr>
          </a:p>
          <a:p>
            <a:pPr marL="0" indent="0" algn="l">
              <a:buNone/>
            </a:pPr>
            <a:r>
              <a:rPr lang="en-US" sz="1600" dirty="0">
                <a:solidFill>
                  <a:srgbClr val="201449"/>
                </a:solidFill>
                <a:ea typeface="Calibri" pitchFamily="34" charset="-122"/>
                <a:cs typeface="Calibri" pitchFamily="34" charset="-120"/>
              </a:rPr>
              <a:t>Software engineer who cares about security 😊</a:t>
            </a:r>
          </a:p>
          <a:p>
            <a:pPr marL="0" indent="0" algn="l">
              <a:buNone/>
            </a:pPr>
            <a:endParaRPr lang="en-US" sz="1400" dirty="0">
              <a:solidFill>
                <a:srgbClr val="201449"/>
              </a:solidFill>
              <a:latin typeface="Calibri" pitchFamily="34" charset="0"/>
              <a:cs typeface="Calibri" pitchFamily="34" charset="-120"/>
            </a:endParaRPr>
          </a:p>
          <a:p>
            <a:pPr marL="0" indent="0" algn="l">
              <a:buNone/>
            </a:pP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RELEVANCE</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Why should I care?</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6" name="Text 4"/>
          <p:cNvSpPr txBox="1"/>
          <p:nvPr/>
        </p:nvSpPr>
        <p:spPr>
          <a:xfrm>
            <a:off x="7985455" y="6492240"/>
            <a:ext cx="3657600" cy="228600"/>
          </a:xfrm>
          <a:prstGeom prst="rect">
            <a:avLst/>
          </a:prstGeom>
          <a:noFill/>
          <a:ln/>
        </p:spPr>
        <p:txBody>
          <a:bodyPr wrap="square" lIns="0" tIns="0" rIns="0" bIns="0" rtlCol="0" anchor="ctr"/>
          <a:lstStyle/>
          <a:p>
            <a:pPr marL="0" indent="0" algn="r">
              <a:buNone/>
            </a:pPr>
            <a:r>
              <a:rPr lang="en-US" sz="900" dirty="0">
                <a:solidFill>
                  <a:srgbClr val="6E6B7A"/>
                </a:solidFill>
                <a:latin typeface="Calibri" pitchFamily="34" charset="0"/>
                <a:ea typeface="Calibri" pitchFamily="34" charset="-122"/>
                <a:cs typeface="Calibri" pitchFamily="34" charset="-120"/>
              </a:rPr>
              <a:t>ziltonportfolio.io</a:t>
            </a:r>
            <a:endParaRPr lang="en-US" sz="900" dirty="0"/>
          </a:p>
        </p:txBody>
      </p:sp>
      <p:sp>
        <p:nvSpPr>
          <p:cNvPr id="7" name="Shape 5"/>
          <p:cNvSpPr/>
          <p:nvPr/>
        </p:nvSpPr>
        <p:spPr>
          <a:xfrm>
            <a:off x="548640" y="1947672"/>
            <a:ext cx="45720" cy="822960"/>
          </a:xfrm>
          <a:prstGeom prst="rect">
            <a:avLst/>
          </a:prstGeom>
          <a:solidFill>
            <a:srgbClr val="F900A0"/>
          </a:solidFill>
          <a:ln/>
        </p:spPr>
        <p:txBody>
          <a:bodyPr/>
          <a:lstStyle/>
          <a:p>
            <a:endParaRPr lang="en-US"/>
          </a:p>
        </p:txBody>
      </p:sp>
      <p:sp>
        <p:nvSpPr>
          <p:cNvPr id="8" name="Text 6"/>
          <p:cNvSpPr txBox="1"/>
          <p:nvPr/>
        </p:nvSpPr>
        <p:spPr>
          <a:xfrm>
            <a:off x="777240" y="1874520"/>
            <a:ext cx="5943600" cy="365760"/>
          </a:xfrm>
          <a:prstGeom prst="rect">
            <a:avLst/>
          </a:prstGeom>
          <a:noFill/>
          <a:ln/>
        </p:spPr>
        <p:txBody>
          <a:bodyPr wrap="square" lIns="0" tIns="0" rIns="0" bIns="0" rtlCol="0" anchor="ctr"/>
          <a:lstStyle/>
          <a:p>
            <a:pPr marL="0" indent="0" algn="l">
              <a:buNone/>
            </a:pPr>
            <a:r>
              <a:rPr lang="en-US" sz="1600" b="1" dirty="0">
                <a:solidFill>
                  <a:srgbClr val="201449"/>
                </a:solidFill>
                <a:latin typeface="Calibri" pitchFamily="34" charset="0"/>
                <a:ea typeface="Calibri" pitchFamily="34" charset="-122"/>
                <a:cs typeface="Calibri" pitchFamily="34" charset="-120"/>
              </a:rPr>
              <a:t>LLMs suggest what they’ve seen.</a:t>
            </a:r>
            <a:endParaRPr lang="en-US" sz="1600" dirty="0"/>
          </a:p>
        </p:txBody>
      </p:sp>
      <p:sp>
        <p:nvSpPr>
          <p:cNvPr id="9" name="Text 7"/>
          <p:cNvSpPr txBox="1"/>
          <p:nvPr/>
        </p:nvSpPr>
        <p:spPr>
          <a:xfrm>
            <a:off x="777240" y="2240280"/>
            <a:ext cx="5943600" cy="594360"/>
          </a:xfrm>
          <a:prstGeom prst="rect">
            <a:avLst/>
          </a:prstGeom>
          <a:noFill/>
          <a:ln/>
        </p:spPr>
        <p:txBody>
          <a:bodyPr wrap="square" lIns="0" tIns="0" rIns="0" bIns="0" rtlCol="0" anchor="t"/>
          <a:lstStyle/>
          <a:p>
            <a:pPr marL="0" indent="0" algn="l">
              <a:buNone/>
            </a:pPr>
            <a:r>
              <a:rPr lang="en-US" sz="1200" dirty="0">
                <a:solidFill>
                  <a:srgbClr val="201449"/>
                </a:solidFill>
                <a:latin typeface="Calibri" pitchFamily="34" charset="0"/>
                <a:ea typeface="Calibri" pitchFamily="34" charset="-122"/>
                <a:cs typeface="Calibri" pitchFamily="34" charset="-120"/>
              </a:rPr>
              <a:t>Training data is full of MD5 hashes, string-concat SQL, hardcoded secrets in tutorial code. AI assistants happily reproduce those patterns.</a:t>
            </a:r>
            <a:endParaRPr lang="en-US" sz="1200" dirty="0"/>
          </a:p>
        </p:txBody>
      </p:sp>
      <p:sp>
        <p:nvSpPr>
          <p:cNvPr id="10" name="Shape 8"/>
          <p:cNvSpPr/>
          <p:nvPr/>
        </p:nvSpPr>
        <p:spPr>
          <a:xfrm>
            <a:off x="548640" y="2907792"/>
            <a:ext cx="45720" cy="822960"/>
          </a:xfrm>
          <a:prstGeom prst="rect">
            <a:avLst/>
          </a:prstGeom>
          <a:solidFill>
            <a:srgbClr val="F900A0"/>
          </a:solidFill>
          <a:ln/>
        </p:spPr>
        <p:txBody>
          <a:bodyPr/>
          <a:lstStyle/>
          <a:p>
            <a:endParaRPr lang="en-US"/>
          </a:p>
        </p:txBody>
      </p:sp>
      <p:sp>
        <p:nvSpPr>
          <p:cNvPr id="11" name="Text 9"/>
          <p:cNvSpPr txBox="1"/>
          <p:nvPr/>
        </p:nvSpPr>
        <p:spPr>
          <a:xfrm>
            <a:off x="777240" y="2834640"/>
            <a:ext cx="5943600" cy="365760"/>
          </a:xfrm>
          <a:prstGeom prst="rect">
            <a:avLst/>
          </a:prstGeom>
          <a:noFill/>
          <a:ln/>
        </p:spPr>
        <p:txBody>
          <a:bodyPr wrap="square" lIns="0" tIns="0" rIns="0" bIns="0" rtlCol="0" anchor="ctr"/>
          <a:lstStyle/>
          <a:p>
            <a:pPr marL="0" indent="0" algn="l">
              <a:buNone/>
            </a:pPr>
            <a:r>
              <a:rPr lang="en-US" sz="1600" b="1" dirty="0">
                <a:solidFill>
                  <a:srgbClr val="201449"/>
                </a:solidFill>
                <a:latin typeface="Calibri" pitchFamily="34" charset="0"/>
                <a:ea typeface="Calibri" pitchFamily="34" charset="-122"/>
                <a:cs typeface="Calibri" pitchFamily="34" charset="-120"/>
              </a:rPr>
              <a:t>"Looks reasonable" isn’t "is secure."</a:t>
            </a:r>
            <a:endParaRPr lang="en-US" sz="1600" dirty="0"/>
          </a:p>
        </p:txBody>
      </p:sp>
      <p:sp>
        <p:nvSpPr>
          <p:cNvPr id="12" name="Text 10"/>
          <p:cNvSpPr txBox="1"/>
          <p:nvPr/>
        </p:nvSpPr>
        <p:spPr>
          <a:xfrm>
            <a:off x="777240" y="3200400"/>
            <a:ext cx="5943600" cy="594360"/>
          </a:xfrm>
          <a:prstGeom prst="rect">
            <a:avLst/>
          </a:prstGeom>
          <a:noFill/>
          <a:ln/>
        </p:spPr>
        <p:txBody>
          <a:bodyPr wrap="square" lIns="0" tIns="0" rIns="0" bIns="0" rtlCol="0" anchor="t"/>
          <a:lstStyle/>
          <a:p>
            <a:pPr marL="0" indent="0" algn="l">
              <a:buNone/>
            </a:pPr>
            <a:r>
              <a:rPr lang="en-US" sz="1200" dirty="0">
                <a:solidFill>
                  <a:srgbClr val="201449"/>
                </a:solidFill>
                <a:latin typeface="Calibri" pitchFamily="34" charset="0"/>
                <a:ea typeface="Calibri" pitchFamily="34" charset="-122"/>
                <a:cs typeface="Calibri" pitchFamily="34" charset="-120"/>
              </a:rPr>
              <a:t>AI suggestions get accepted at higher rates than the same code would be written from scratch. Plausibility bypasses skepticism.</a:t>
            </a:r>
            <a:endParaRPr lang="en-US" sz="1200" dirty="0"/>
          </a:p>
        </p:txBody>
      </p:sp>
      <p:sp>
        <p:nvSpPr>
          <p:cNvPr id="13" name="Shape 11"/>
          <p:cNvSpPr/>
          <p:nvPr/>
        </p:nvSpPr>
        <p:spPr>
          <a:xfrm>
            <a:off x="548640" y="3867912"/>
            <a:ext cx="45720" cy="822960"/>
          </a:xfrm>
          <a:prstGeom prst="rect">
            <a:avLst/>
          </a:prstGeom>
          <a:solidFill>
            <a:srgbClr val="F900A0"/>
          </a:solidFill>
          <a:ln/>
        </p:spPr>
        <p:txBody>
          <a:bodyPr/>
          <a:lstStyle/>
          <a:p>
            <a:endParaRPr lang="en-US"/>
          </a:p>
        </p:txBody>
      </p:sp>
      <p:sp>
        <p:nvSpPr>
          <p:cNvPr id="14" name="Text 12"/>
          <p:cNvSpPr txBox="1"/>
          <p:nvPr/>
        </p:nvSpPr>
        <p:spPr>
          <a:xfrm>
            <a:off x="777240" y="3794760"/>
            <a:ext cx="5943600" cy="365760"/>
          </a:xfrm>
          <a:prstGeom prst="rect">
            <a:avLst/>
          </a:prstGeom>
          <a:noFill/>
          <a:ln/>
        </p:spPr>
        <p:txBody>
          <a:bodyPr wrap="square" lIns="0" tIns="0" rIns="0" bIns="0" rtlCol="0" anchor="ctr"/>
          <a:lstStyle/>
          <a:p>
            <a:pPr marL="0" indent="0" algn="l">
              <a:buNone/>
            </a:pPr>
            <a:r>
              <a:rPr lang="en-US" sz="1600" b="1" dirty="0">
                <a:solidFill>
                  <a:srgbClr val="201449"/>
                </a:solidFill>
                <a:latin typeface="Calibri" pitchFamily="34" charset="0"/>
                <a:ea typeface="Calibri" pitchFamily="34" charset="-122"/>
                <a:cs typeface="Calibri" pitchFamily="34" charset="-120"/>
              </a:rPr>
              <a:t>Volume goes up. Review capacity doesn’t.</a:t>
            </a:r>
            <a:endParaRPr lang="en-US" sz="1600" dirty="0"/>
          </a:p>
        </p:txBody>
      </p:sp>
      <p:sp>
        <p:nvSpPr>
          <p:cNvPr id="15" name="Text 13"/>
          <p:cNvSpPr txBox="1"/>
          <p:nvPr/>
        </p:nvSpPr>
        <p:spPr>
          <a:xfrm>
            <a:off x="777240" y="4160520"/>
            <a:ext cx="5943600" cy="594360"/>
          </a:xfrm>
          <a:prstGeom prst="rect">
            <a:avLst/>
          </a:prstGeom>
          <a:noFill/>
          <a:ln/>
        </p:spPr>
        <p:txBody>
          <a:bodyPr wrap="square" lIns="0" tIns="0" rIns="0" bIns="0" rtlCol="0" anchor="t"/>
          <a:lstStyle/>
          <a:p>
            <a:pPr marL="0" indent="0" algn="l">
              <a:buNone/>
            </a:pPr>
            <a:r>
              <a:rPr lang="en-US" sz="1200" dirty="0">
                <a:solidFill>
                  <a:srgbClr val="201449"/>
                </a:solidFill>
                <a:latin typeface="Calibri" pitchFamily="34" charset="0"/>
                <a:ea typeface="Calibri" pitchFamily="34" charset="-122"/>
                <a:cs typeface="Calibri" pitchFamily="34" charset="-120"/>
              </a:rPr>
              <a:t>More code lands per week. The same reviewers still have to catch the vulnerable patterns among all the safe ones.</a:t>
            </a:r>
            <a:endParaRPr lang="en-US" sz="1200" dirty="0"/>
          </a:p>
        </p:txBody>
      </p:sp>
      <p:sp>
        <p:nvSpPr>
          <p:cNvPr id="16" name="Shape 14"/>
          <p:cNvSpPr/>
          <p:nvPr/>
        </p:nvSpPr>
        <p:spPr>
          <a:xfrm>
            <a:off x="548640" y="4828032"/>
            <a:ext cx="45720" cy="822960"/>
          </a:xfrm>
          <a:prstGeom prst="rect">
            <a:avLst/>
          </a:prstGeom>
          <a:solidFill>
            <a:srgbClr val="F900A0"/>
          </a:solidFill>
          <a:ln/>
        </p:spPr>
        <p:txBody>
          <a:bodyPr/>
          <a:lstStyle/>
          <a:p>
            <a:endParaRPr lang="en-US"/>
          </a:p>
        </p:txBody>
      </p:sp>
      <p:sp>
        <p:nvSpPr>
          <p:cNvPr id="17" name="Text 15"/>
          <p:cNvSpPr txBox="1"/>
          <p:nvPr/>
        </p:nvSpPr>
        <p:spPr>
          <a:xfrm>
            <a:off x="777240" y="4754880"/>
            <a:ext cx="5943600" cy="365760"/>
          </a:xfrm>
          <a:prstGeom prst="rect">
            <a:avLst/>
          </a:prstGeom>
          <a:noFill/>
          <a:ln/>
        </p:spPr>
        <p:txBody>
          <a:bodyPr wrap="square" lIns="0" tIns="0" rIns="0" bIns="0" rtlCol="0" anchor="ctr"/>
          <a:lstStyle/>
          <a:p>
            <a:pPr marL="0" indent="0" algn="l">
              <a:buNone/>
            </a:pPr>
            <a:r>
              <a:rPr lang="en-US" sz="1600" b="1" dirty="0">
                <a:solidFill>
                  <a:srgbClr val="201449"/>
                </a:solidFill>
                <a:latin typeface="Calibri" pitchFamily="34" charset="0"/>
                <a:ea typeface="Calibri" pitchFamily="34" charset="-122"/>
                <a:cs typeface="Calibri" pitchFamily="34" charset="-120"/>
              </a:rPr>
              <a:t>A compile rule doesn’t care who typed it.</a:t>
            </a:r>
            <a:endParaRPr lang="en-US" sz="1600" dirty="0"/>
          </a:p>
        </p:txBody>
      </p:sp>
      <p:sp>
        <p:nvSpPr>
          <p:cNvPr id="18" name="Text 16"/>
          <p:cNvSpPr txBox="1"/>
          <p:nvPr/>
        </p:nvSpPr>
        <p:spPr>
          <a:xfrm>
            <a:off x="777240" y="5120640"/>
            <a:ext cx="5943600" cy="594360"/>
          </a:xfrm>
          <a:prstGeom prst="rect">
            <a:avLst/>
          </a:prstGeom>
          <a:noFill/>
          <a:ln/>
        </p:spPr>
        <p:txBody>
          <a:bodyPr wrap="square" lIns="0" tIns="0" rIns="0" bIns="0" rtlCol="0" anchor="t"/>
          <a:lstStyle/>
          <a:p>
            <a:pPr marL="0" indent="0" algn="l">
              <a:buNone/>
            </a:pPr>
            <a:r>
              <a:rPr lang="en-US" sz="1200" dirty="0">
                <a:solidFill>
                  <a:srgbClr val="201449"/>
                </a:solidFill>
                <a:latin typeface="Calibri" pitchFamily="34" charset="0"/>
                <a:ea typeface="Calibri" pitchFamily="34" charset="-122"/>
                <a:cs typeface="Calibri" pitchFamily="34" charset="-120"/>
              </a:rPr>
              <a:t>The same guardrail applies to your code, your teammate’s code, and whatever the AI wrote last Tuesday.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FEEDBACK</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The later the signal, the more it costs</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6" name="Text 4"/>
          <p:cNvSpPr txBox="1"/>
          <p:nvPr/>
        </p:nvSpPr>
        <p:spPr>
          <a:xfrm>
            <a:off x="7985455" y="6492240"/>
            <a:ext cx="3657600" cy="228600"/>
          </a:xfrm>
          <a:prstGeom prst="rect">
            <a:avLst/>
          </a:prstGeom>
          <a:noFill/>
          <a:ln/>
        </p:spPr>
        <p:txBody>
          <a:bodyPr wrap="square" lIns="0" tIns="0" rIns="0" bIns="0" rtlCol="0" anchor="ctr"/>
          <a:lstStyle/>
          <a:p>
            <a:pPr marL="0" indent="0" algn="r">
              <a:buNone/>
            </a:pPr>
            <a:r>
              <a:rPr lang="en-US" sz="900" dirty="0">
                <a:solidFill>
                  <a:srgbClr val="6E6B7A"/>
                </a:solidFill>
                <a:latin typeface="Calibri" pitchFamily="34" charset="0"/>
                <a:ea typeface="Calibri" pitchFamily="34" charset="-122"/>
                <a:cs typeface="Calibri" pitchFamily="34" charset="-120"/>
              </a:rPr>
              <a:t>ziltonportfolio.io</a:t>
            </a:r>
            <a:endParaRPr lang="en-US" sz="900" dirty="0"/>
          </a:p>
        </p:txBody>
      </p:sp>
      <p:sp>
        <p:nvSpPr>
          <p:cNvPr id="7" name="Shape 5"/>
          <p:cNvSpPr/>
          <p:nvPr/>
        </p:nvSpPr>
        <p:spPr>
          <a:xfrm>
            <a:off x="731520" y="5390388"/>
            <a:ext cx="10698480" cy="13716"/>
          </a:xfrm>
          <a:prstGeom prst="rect">
            <a:avLst/>
          </a:prstGeom>
          <a:solidFill>
            <a:srgbClr val="D8D6E0"/>
          </a:solidFill>
          <a:ln/>
        </p:spPr>
        <p:txBody>
          <a:bodyPr/>
          <a:lstStyle/>
          <a:p>
            <a:endParaRPr lang="en-US"/>
          </a:p>
        </p:txBody>
      </p:sp>
      <p:sp>
        <p:nvSpPr>
          <p:cNvPr id="8" name="Shape 6"/>
          <p:cNvSpPr/>
          <p:nvPr/>
        </p:nvSpPr>
        <p:spPr>
          <a:xfrm>
            <a:off x="822960" y="4937760"/>
            <a:ext cx="1280160" cy="457200"/>
          </a:xfrm>
          <a:prstGeom prst="rect">
            <a:avLst/>
          </a:prstGeom>
          <a:solidFill>
            <a:srgbClr val="1EBE9B"/>
          </a:solidFill>
          <a:ln/>
        </p:spPr>
        <p:txBody>
          <a:bodyPr/>
          <a:lstStyle/>
          <a:p>
            <a:endParaRPr lang="en-US"/>
          </a:p>
        </p:txBody>
      </p:sp>
      <p:sp>
        <p:nvSpPr>
          <p:cNvPr id="9" name="Text 7"/>
          <p:cNvSpPr txBox="1"/>
          <p:nvPr/>
        </p:nvSpPr>
        <p:spPr>
          <a:xfrm>
            <a:off x="548640" y="5486400"/>
            <a:ext cx="1828800" cy="320040"/>
          </a:xfrm>
          <a:prstGeom prst="rect">
            <a:avLst/>
          </a:prstGeom>
          <a:noFill/>
          <a:ln/>
        </p:spPr>
        <p:txBody>
          <a:bodyPr wrap="square" lIns="0" tIns="0" rIns="0" bIns="0" rtlCol="0" anchor="ctr"/>
          <a:lstStyle/>
          <a:p>
            <a:pPr marL="0" indent="0" algn="ctr">
              <a:buNone/>
            </a:pPr>
            <a:r>
              <a:rPr lang="en-US" sz="1200" b="1" dirty="0">
                <a:solidFill>
                  <a:srgbClr val="201449"/>
                </a:solidFill>
                <a:latin typeface="Calibri" pitchFamily="34" charset="0"/>
                <a:ea typeface="Calibri" pitchFamily="34" charset="-122"/>
                <a:cs typeface="Calibri" pitchFamily="34" charset="-120"/>
              </a:rPr>
              <a:t>IDE</a:t>
            </a:r>
            <a:endParaRPr lang="en-US" sz="1200" dirty="0"/>
          </a:p>
        </p:txBody>
      </p:sp>
      <p:sp>
        <p:nvSpPr>
          <p:cNvPr id="10" name="Shape 8"/>
          <p:cNvSpPr/>
          <p:nvPr/>
        </p:nvSpPr>
        <p:spPr>
          <a:xfrm>
            <a:off x="2834640" y="4572000"/>
            <a:ext cx="1280160" cy="822960"/>
          </a:xfrm>
          <a:prstGeom prst="rect">
            <a:avLst/>
          </a:prstGeom>
          <a:solidFill>
            <a:srgbClr val="1EBE9B"/>
          </a:solidFill>
          <a:ln/>
        </p:spPr>
        <p:txBody>
          <a:bodyPr/>
          <a:lstStyle/>
          <a:p>
            <a:endParaRPr lang="en-US"/>
          </a:p>
        </p:txBody>
      </p:sp>
      <p:sp>
        <p:nvSpPr>
          <p:cNvPr id="11" name="Text 9"/>
          <p:cNvSpPr txBox="1"/>
          <p:nvPr/>
        </p:nvSpPr>
        <p:spPr>
          <a:xfrm>
            <a:off x="2560320" y="5486400"/>
            <a:ext cx="1828800" cy="320040"/>
          </a:xfrm>
          <a:prstGeom prst="rect">
            <a:avLst/>
          </a:prstGeom>
          <a:noFill/>
          <a:ln/>
        </p:spPr>
        <p:txBody>
          <a:bodyPr wrap="square" lIns="0" tIns="0" rIns="0" bIns="0" rtlCol="0" anchor="ctr"/>
          <a:lstStyle/>
          <a:p>
            <a:pPr marL="0" indent="0" algn="ctr">
              <a:buNone/>
            </a:pPr>
            <a:r>
              <a:rPr lang="en-US" sz="1200" b="1" dirty="0">
                <a:solidFill>
                  <a:srgbClr val="201449"/>
                </a:solidFill>
                <a:latin typeface="Calibri" pitchFamily="34" charset="0"/>
                <a:ea typeface="Calibri" pitchFamily="34" charset="-122"/>
                <a:cs typeface="Calibri" pitchFamily="34" charset="-120"/>
              </a:rPr>
              <a:t>Compile</a:t>
            </a:r>
            <a:endParaRPr lang="en-US" sz="1200" dirty="0"/>
          </a:p>
        </p:txBody>
      </p:sp>
      <p:sp>
        <p:nvSpPr>
          <p:cNvPr id="12" name="Shape 10"/>
          <p:cNvSpPr/>
          <p:nvPr/>
        </p:nvSpPr>
        <p:spPr>
          <a:xfrm>
            <a:off x="4846320" y="3566160"/>
            <a:ext cx="1280160" cy="1828800"/>
          </a:xfrm>
          <a:prstGeom prst="rect">
            <a:avLst/>
          </a:prstGeom>
          <a:solidFill>
            <a:srgbClr val="765BD2"/>
          </a:solidFill>
          <a:ln/>
        </p:spPr>
        <p:txBody>
          <a:bodyPr/>
          <a:lstStyle/>
          <a:p>
            <a:endParaRPr lang="en-US"/>
          </a:p>
        </p:txBody>
      </p:sp>
      <p:sp>
        <p:nvSpPr>
          <p:cNvPr id="13" name="Text 11"/>
          <p:cNvSpPr txBox="1"/>
          <p:nvPr/>
        </p:nvSpPr>
        <p:spPr>
          <a:xfrm>
            <a:off x="4572000" y="5486400"/>
            <a:ext cx="1828800" cy="320040"/>
          </a:xfrm>
          <a:prstGeom prst="rect">
            <a:avLst/>
          </a:prstGeom>
          <a:noFill/>
          <a:ln/>
        </p:spPr>
        <p:txBody>
          <a:bodyPr wrap="square" lIns="0" tIns="0" rIns="0" bIns="0" rtlCol="0" anchor="ctr"/>
          <a:lstStyle/>
          <a:p>
            <a:pPr marL="0" indent="0" algn="ctr">
              <a:buNone/>
            </a:pPr>
            <a:r>
              <a:rPr lang="en-US" sz="1200" b="1" dirty="0">
                <a:solidFill>
                  <a:srgbClr val="201449"/>
                </a:solidFill>
                <a:latin typeface="Calibri" pitchFamily="34" charset="0"/>
                <a:ea typeface="Calibri" pitchFamily="34" charset="-122"/>
                <a:cs typeface="Calibri" pitchFamily="34" charset="-120"/>
              </a:rPr>
              <a:t>CI</a:t>
            </a:r>
            <a:endParaRPr lang="en-US" sz="1200" dirty="0"/>
          </a:p>
        </p:txBody>
      </p:sp>
      <p:sp>
        <p:nvSpPr>
          <p:cNvPr id="14" name="Shape 12"/>
          <p:cNvSpPr/>
          <p:nvPr/>
        </p:nvSpPr>
        <p:spPr>
          <a:xfrm>
            <a:off x="6858000" y="2743200"/>
            <a:ext cx="1280160" cy="2651760"/>
          </a:xfrm>
          <a:prstGeom prst="rect">
            <a:avLst/>
          </a:prstGeom>
          <a:solidFill>
            <a:srgbClr val="F900A0"/>
          </a:solidFill>
          <a:ln/>
        </p:spPr>
        <p:txBody>
          <a:bodyPr/>
          <a:lstStyle/>
          <a:p>
            <a:endParaRPr lang="en-US"/>
          </a:p>
        </p:txBody>
      </p:sp>
      <p:sp>
        <p:nvSpPr>
          <p:cNvPr id="15" name="Text 13"/>
          <p:cNvSpPr txBox="1"/>
          <p:nvPr/>
        </p:nvSpPr>
        <p:spPr>
          <a:xfrm>
            <a:off x="6583680" y="5486400"/>
            <a:ext cx="1828800" cy="320040"/>
          </a:xfrm>
          <a:prstGeom prst="rect">
            <a:avLst/>
          </a:prstGeom>
          <a:noFill/>
          <a:ln/>
        </p:spPr>
        <p:txBody>
          <a:bodyPr wrap="square" lIns="0" tIns="0" rIns="0" bIns="0" rtlCol="0" anchor="ctr"/>
          <a:lstStyle/>
          <a:p>
            <a:pPr marL="0" indent="0" algn="ctr">
              <a:buNone/>
            </a:pPr>
            <a:r>
              <a:rPr lang="en-US" sz="1200" b="1" dirty="0">
                <a:solidFill>
                  <a:srgbClr val="201449"/>
                </a:solidFill>
                <a:latin typeface="Calibri" pitchFamily="34" charset="0"/>
                <a:ea typeface="Calibri" pitchFamily="34" charset="-122"/>
                <a:cs typeface="Calibri" pitchFamily="34" charset="-120"/>
              </a:rPr>
              <a:t>PR review</a:t>
            </a:r>
            <a:endParaRPr lang="en-US" sz="1200" dirty="0"/>
          </a:p>
        </p:txBody>
      </p:sp>
      <p:sp>
        <p:nvSpPr>
          <p:cNvPr id="16" name="Shape 14"/>
          <p:cNvSpPr/>
          <p:nvPr/>
        </p:nvSpPr>
        <p:spPr>
          <a:xfrm>
            <a:off x="8869680" y="2103120"/>
            <a:ext cx="1280160" cy="3291840"/>
          </a:xfrm>
          <a:prstGeom prst="rect">
            <a:avLst/>
          </a:prstGeom>
          <a:solidFill>
            <a:srgbClr val="F900A0"/>
          </a:solidFill>
          <a:ln/>
        </p:spPr>
        <p:txBody>
          <a:bodyPr/>
          <a:lstStyle/>
          <a:p>
            <a:endParaRPr lang="en-US"/>
          </a:p>
        </p:txBody>
      </p:sp>
      <p:sp>
        <p:nvSpPr>
          <p:cNvPr id="17" name="Text 15"/>
          <p:cNvSpPr txBox="1"/>
          <p:nvPr/>
        </p:nvSpPr>
        <p:spPr>
          <a:xfrm>
            <a:off x="8595360" y="5486400"/>
            <a:ext cx="1828800" cy="320040"/>
          </a:xfrm>
          <a:prstGeom prst="rect">
            <a:avLst/>
          </a:prstGeom>
          <a:noFill/>
          <a:ln/>
        </p:spPr>
        <p:txBody>
          <a:bodyPr wrap="square" lIns="0" tIns="0" rIns="0" bIns="0" rtlCol="0" anchor="ctr"/>
          <a:lstStyle/>
          <a:p>
            <a:pPr marL="0" indent="0" algn="ctr">
              <a:buNone/>
            </a:pPr>
            <a:r>
              <a:rPr lang="en-US" sz="1200" b="1" dirty="0">
                <a:solidFill>
                  <a:srgbClr val="201449"/>
                </a:solidFill>
                <a:latin typeface="Calibri" pitchFamily="34" charset="0"/>
                <a:ea typeface="Calibri" pitchFamily="34" charset="-122"/>
                <a:cs typeface="Calibri" pitchFamily="34" charset="-120"/>
              </a:rPr>
              <a:t>Production</a:t>
            </a:r>
            <a:endParaRPr lang="en-US" sz="1200" dirty="0"/>
          </a:p>
        </p:txBody>
      </p:sp>
      <p:sp>
        <p:nvSpPr>
          <p:cNvPr id="18" name="Text 16"/>
          <p:cNvSpPr txBox="1"/>
          <p:nvPr/>
        </p:nvSpPr>
        <p:spPr>
          <a:xfrm>
            <a:off x="2286000" y="1874520"/>
            <a:ext cx="3200400" cy="274320"/>
          </a:xfrm>
          <a:prstGeom prst="rect">
            <a:avLst/>
          </a:prstGeom>
          <a:noFill/>
          <a:ln/>
        </p:spPr>
        <p:txBody>
          <a:bodyPr wrap="square" lIns="0" tIns="0" rIns="0" bIns="0" rtlCol="0" anchor="ctr"/>
          <a:lstStyle/>
          <a:p>
            <a:pPr marL="0" indent="0" algn="ctr">
              <a:buNone/>
            </a:pPr>
            <a:r>
              <a:rPr lang="en-US" sz="1200" b="1" kern="0" spc="100" dirty="0">
                <a:solidFill>
                  <a:srgbClr val="1EBE9B"/>
                </a:solidFill>
                <a:latin typeface="Calibri" pitchFamily="34" charset="0"/>
                <a:ea typeface="Calibri" pitchFamily="34" charset="-122"/>
                <a:cs typeface="Calibri" pitchFamily="34" charset="-120"/>
              </a:rPr>
              <a:t>Compile-sast lives here</a:t>
            </a:r>
            <a:endParaRPr lang="en-US" sz="1200" dirty="0"/>
          </a:p>
        </p:txBody>
      </p:sp>
      <p:sp>
        <p:nvSpPr>
          <p:cNvPr id="19" name="Shape 17"/>
          <p:cNvSpPr/>
          <p:nvPr/>
        </p:nvSpPr>
        <p:spPr>
          <a:xfrm>
            <a:off x="3465576" y="2148840"/>
            <a:ext cx="27432" cy="2743200"/>
          </a:xfrm>
          <a:prstGeom prst="rect">
            <a:avLst/>
          </a:prstGeom>
          <a:solidFill>
            <a:srgbClr val="1EBE9B"/>
          </a:solidFill>
          <a:ln/>
        </p:spPr>
        <p:txBody>
          <a:bodyPr/>
          <a:lstStyle/>
          <a:p>
            <a:endParaRPr lang="en-US"/>
          </a:p>
        </p:txBody>
      </p:sp>
      <p:sp>
        <p:nvSpPr>
          <p:cNvPr id="20" name="Text 18"/>
          <p:cNvSpPr txBox="1"/>
          <p:nvPr/>
        </p:nvSpPr>
        <p:spPr>
          <a:xfrm>
            <a:off x="4389120" y="1874520"/>
            <a:ext cx="3200400" cy="274320"/>
          </a:xfrm>
          <a:prstGeom prst="rect">
            <a:avLst/>
          </a:prstGeom>
          <a:noFill/>
          <a:ln/>
        </p:spPr>
        <p:txBody>
          <a:bodyPr wrap="square" lIns="0" tIns="0" rIns="0" bIns="0" rtlCol="0" anchor="ctr"/>
          <a:lstStyle/>
          <a:p>
            <a:pPr marL="0" indent="0" algn="ctr">
              <a:buNone/>
            </a:pPr>
            <a:r>
              <a:rPr lang="en-US" sz="1200" b="1" kern="0" spc="100" dirty="0">
                <a:solidFill>
                  <a:srgbClr val="F900A0"/>
                </a:solidFill>
                <a:latin typeface="Calibri" pitchFamily="34" charset="0"/>
                <a:ea typeface="Calibri" pitchFamily="34" charset="-122"/>
                <a:cs typeface="Calibri" pitchFamily="34" charset="-120"/>
              </a:rPr>
              <a:t>Where SAST usually catches it</a:t>
            </a:r>
            <a:endParaRPr lang="en-US" sz="1200" dirty="0"/>
          </a:p>
        </p:txBody>
      </p:sp>
      <p:sp>
        <p:nvSpPr>
          <p:cNvPr id="21" name="Shape 19"/>
          <p:cNvSpPr/>
          <p:nvPr/>
        </p:nvSpPr>
        <p:spPr>
          <a:xfrm>
            <a:off x="5477256" y="2148840"/>
            <a:ext cx="27432" cy="1463040"/>
          </a:xfrm>
          <a:prstGeom prst="rect">
            <a:avLst/>
          </a:prstGeom>
          <a:solidFill>
            <a:srgbClr val="F900A0"/>
          </a:solidFill>
          <a:ln/>
        </p:spPr>
        <p:txBody>
          <a:bodyPr/>
          <a:lstStyle/>
          <a:p>
            <a:endParaRPr lang="en-US"/>
          </a:p>
        </p:txBody>
      </p:sp>
      <p:sp>
        <p:nvSpPr>
          <p:cNvPr id="22" name="Text 20"/>
          <p:cNvSpPr txBox="1"/>
          <p:nvPr/>
        </p:nvSpPr>
        <p:spPr>
          <a:xfrm>
            <a:off x="548640" y="1737360"/>
            <a:ext cx="4572000" cy="274320"/>
          </a:xfrm>
          <a:prstGeom prst="rect">
            <a:avLst/>
          </a:prstGeom>
          <a:noFill/>
          <a:ln/>
        </p:spPr>
        <p:txBody>
          <a:bodyPr wrap="square" lIns="0" tIns="0" rIns="0" bIns="0" rtlCol="0" anchor="ctr"/>
          <a:lstStyle/>
          <a:p>
            <a:pPr marL="0" indent="0" algn="l">
              <a:buNone/>
            </a:pPr>
            <a:r>
              <a:rPr lang="en-US" sz="1100" kern="0" spc="100" dirty="0">
                <a:solidFill>
                  <a:srgbClr val="6E6B7A"/>
                </a:solidFill>
                <a:latin typeface="Calibri" pitchFamily="34" charset="0"/>
                <a:ea typeface="Calibri" pitchFamily="34" charset="-122"/>
                <a:cs typeface="Calibri" pitchFamily="34" charset="-120"/>
              </a:rPr>
              <a:t>Cost of fixing a vulnerability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201449"/>
        </a:solidFill>
        <a:effectLst/>
      </p:bgPr>
    </p:bg>
    <p:spTree>
      <p:nvGrpSpPr>
        <p:cNvPr id="1" name=""/>
        <p:cNvGrpSpPr/>
        <p:nvPr/>
      </p:nvGrpSpPr>
      <p:grpSpPr>
        <a:xfrm>
          <a:off x="0" y="0"/>
          <a:ext cx="0" cy="0"/>
          <a:chOff x="0" y="0"/>
          <a:chExt cx="0" cy="0"/>
        </a:xfrm>
      </p:grpSpPr>
      <p:sp>
        <p:nvSpPr>
          <p:cNvPr id="2" name="Shape 0"/>
          <p:cNvSpPr/>
          <p:nvPr/>
        </p:nvSpPr>
        <p:spPr>
          <a:xfrm>
            <a:off x="-1341119" y="-731520"/>
            <a:ext cx="6766560" cy="6766560"/>
          </a:xfrm>
          <a:prstGeom prst="ellipse">
            <a:avLst/>
          </a:prstGeom>
          <a:solidFill>
            <a:srgbClr val="3D1A5C">
              <a:alpha val="85000"/>
            </a:srgbClr>
          </a:solidFill>
          <a:ln/>
        </p:spPr>
        <p:txBody>
          <a:bodyPr/>
          <a:lstStyle/>
          <a:p>
            <a:endParaRPr lang="en-US"/>
          </a:p>
        </p:txBody>
      </p:sp>
      <p:sp>
        <p:nvSpPr>
          <p:cNvPr id="3" name="Shape 1"/>
          <p:cNvSpPr/>
          <p:nvPr/>
        </p:nvSpPr>
        <p:spPr>
          <a:xfrm>
            <a:off x="2651760" y="-1554480"/>
            <a:ext cx="6035040" cy="6035040"/>
          </a:xfrm>
          <a:prstGeom prst="ellipse">
            <a:avLst/>
          </a:prstGeom>
          <a:solidFill>
            <a:srgbClr val="F900A0">
              <a:alpha val="45000"/>
            </a:srgbClr>
          </a:solidFill>
          <a:ln/>
        </p:spPr>
        <p:txBody>
          <a:bodyPr/>
          <a:lstStyle/>
          <a:p>
            <a:endParaRPr lang="en-US"/>
          </a:p>
        </p:txBody>
      </p:sp>
      <p:sp>
        <p:nvSpPr>
          <p:cNvPr id="4" name="Shape 2"/>
          <p:cNvSpPr/>
          <p:nvPr/>
        </p:nvSpPr>
        <p:spPr>
          <a:xfrm>
            <a:off x="6766560" y="-548640"/>
            <a:ext cx="6217920" cy="6217920"/>
          </a:xfrm>
          <a:prstGeom prst="ellipse">
            <a:avLst/>
          </a:prstGeom>
          <a:solidFill>
            <a:srgbClr val="4B1A5C">
              <a:alpha val="80000"/>
            </a:srgbClr>
          </a:solidFill>
          <a:ln/>
        </p:spPr>
        <p:txBody>
          <a:bodyPr/>
          <a:lstStyle/>
          <a:p>
            <a:endParaRPr lang="en-US"/>
          </a:p>
        </p:txBody>
      </p:sp>
      <p:sp>
        <p:nvSpPr>
          <p:cNvPr id="5" name="Text 3"/>
          <p:cNvSpPr txBox="1"/>
          <p:nvPr/>
        </p:nvSpPr>
        <p:spPr>
          <a:xfrm>
            <a:off x="822960" y="2103120"/>
            <a:ext cx="3657600" cy="365760"/>
          </a:xfrm>
          <a:prstGeom prst="rect">
            <a:avLst/>
          </a:prstGeom>
          <a:noFill/>
          <a:ln/>
        </p:spPr>
        <p:txBody>
          <a:bodyPr wrap="square" lIns="0" tIns="0" rIns="0" bIns="0" rtlCol="0" anchor="ctr"/>
          <a:lstStyle/>
          <a:p>
            <a:pPr marL="0" indent="0" algn="l">
              <a:buNone/>
            </a:pPr>
            <a:r>
              <a:rPr lang="en-US" sz="1400" b="1" kern="0" spc="400" dirty="0">
                <a:solidFill>
                  <a:srgbClr val="F900A0"/>
                </a:solidFill>
                <a:latin typeface="Calibri" pitchFamily="34" charset="0"/>
                <a:ea typeface="Calibri" pitchFamily="34" charset="-122"/>
                <a:cs typeface="Calibri" pitchFamily="34" charset="-120"/>
              </a:rPr>
              <a:t>THESIS</a:t>
            </a:r>
            <a:endParaRPr lang="en-US" sz="1400" dirty="0"/>
          </a:p>
        </p:txBody>
      </p:sp>
      <p:sp>
        <p:nvSpPr>
          <p:cNvPr id="6" name="Text 4"/>
          <p:cNvSpPr txBox="1"/>
          <p:nvPr/>
        </p:nvSpPr>
        <p:spPr>
          <a:xfrm>
            <a:off x="822960" y="2651760"/>
            <a:ext cx="10545775" cy="2286000"/>
          </a:xfrm>
          <a:prstGeom prst="rect">
            <a:avLst/>
          </a:prstGeom>
          <a:noFill/>
          <a:ln/>
        </p:spPr>
        <p:txBody>
          <a:bodyPr wrap="square" lIns="0" tIns="0" rIns="0" bIns="0" rtlCol="0" anchor="t"/>
          <a:lstStyle/>
          <a:p>
            <a:pPr marL="0" indent="0" algn="l">
              <a:buNone/>
            </a:pPr>
            <a:r>
              <a:rPr lang="en-US" sz="4600" b="1" dirty="0">
                <a:solidFill>
                  <a:srgbClr val="FFFFFF"/>
                </a:solidFill>
                <a:latin typeface="Calibri" pitchFamily="34" charset="0"/>
                <a:ea typeface="Calibri" pitchFamily="34" charset="-122"/>
                <a:cs typeface="Calibri" pitchFamily="34" charset="-120"/>
              </a:rPr>
              <a:t>If it can be a </a:t>
            </a:r>
            <a:r>
              <a:rPr lang="en-US" sz="4600" b="1" dirty="0">
                <a:solidFill>
                  <a:srgbClr val="F900A0"/>
                </a:solidFill>
                <a:latin typeface="Calibri" pitchFamily="34" charset="0"/>
                <a:ea typeface="Calibri" pitchFamily="34" charset="-122"/>
                <a:cs typeface="Calibri" pitchFamily="34" charset="-120"/>
              </a:rPr>
              <a:t>compile error</a:t>
            </a:r>
            <a:r>
              <a:rPr lang="en-US" sz="4600" b="1" dirty="0">
                <a:solidFill>
                  <a:srgbClr val="FFFFFF"/>
                </a:solidFill>
                <a:latin typeface="Calibri" pitchFamily="34" charset="0"/>
                <a:ea typeface="Calibri" pitchFamily="34" charset="-122"/>
                <a:cs typeface="Calibri" pitchFamily="34" charset="-120"/>
              </a:rPr>
              <a:t>,</a:t>
            </a:r>
            <a:endParaRPr lang="en-US" sz="4600" dirty="0"/>
          </a:p>
          <a:p>
            <a:pPr marL="0" indent="0" algn="l">
              <a:buNone/>
            </a:pPr>
            <a:r>
              <a:rPr lang="en-US" sz="4600" b="1" dirty="0">
                <a:solidFill>
                  <a:srgbClr val="FFFFFF"/>
                </a:solidFill>
                <a:latin typeface="Calibri" pitchFamily="34" charset="0"/>
                <a:ea typeface="Calibri" pitchFamily="34" charset="-122"/>
                <a:cs typeface="Calibri" pitchFamily="34" charset="-120"/>
              </a:rPr>
              <a:t>it should be a compile error.</a:t>
            </a:r>
            <a:endParaRPr lang="en-US" sz="4600" dirty="0"/>
          </a:p>
        </p:txBody>
      </p:sp>
      <p:sp>
        <p:nvSpPr>
          <p:cNvPr id="7" name="Text 5"/>
          <p:cNvSpPr txBox="1"/>
          <p:nvPr/>
        </p:nvSpPr>
        <p:spPr>
          <a:xfrm>
            <a:off x="822960" y="5029200"/>
            <a:ext cx="10545775" cy="548640"/>
          </a:xfrm>
          <a:prstGeom prst="rect">
            <a:avLst/>
          </a:prstGeom>
          <a:noFill/>
          <a:ln/>
        </p:spPr>
        <p:txBody>
          <a:bodyPr wrap="square" lIns="0" tIns="0" rIns="0" bIns="0" rtlCol="0" anchor="ctr"/>
          <a:lstStyle/>
          <a:p>
            <a:pPr marL="0" indent="0" algn="l">
              <a:buNone/>
            </a:pPr>
            <a:r>
              <a:rPr lang="en-US" sz="1600" i="1" dirty="0">
                <a:solidFill>
                  <a:srgbClr val="E4DEF6"/>
                </a:solidFill>
                <a:latin typeface="Calibri" pitchFamily="34" charset="0"/>
                <a:ea typeface="Calibri" pitchFamily="34" charset="-122"/>
                <a:cs typeface="Calibri" pitchFamily="34" charset="-120"/>
              </a:rPr>
              <a:t>The compiler is the earliest, cheapest, most trusted feedback surface a developer touches.</a:t>
            </a:r>
            <a:endParaRPr lang="en-US" sz="1600" dirty="0"/>
          </a:p>
        </p:txBody>
      </p:sp>
      <p:sp>
        <p:nvSpPr>
          <p:cNvPr id="8" name="Text 6"/>
          <p:cNvSpPr txBox="1"/>
          <p:nvPr/>
        </p:nvSpPr>
        <p:spPr>
          <a:xfrm>
            <a:off x="457200" y="6446520"/>
            <a:ext cx="5486400" cy="274320"/>
          </a:xfrm>
          <a:prstGeom prst="rect">
            <a:avLst/>
          </a:prstGeom>
          <a:noFill/>
          <a:ln/>
        </p:spPr>
        <p:txBody>
          <a:bodyPr wrap="square" lIns="0" tIns="0" rIns="0" bIns="0" rtlCol="0" anchor="ctr"/>
          <a:lstStyle/>
          <a:p>
            <a:r>
              <a:rPr lang="en-US" sz="1000" dirty="0">
                <a:solidFill>
                  <a:schemeClr val="bg1"/>
                </a:solidFill>
                <a:latin typeface="Calibri" pitchFamily="34" charset="0"/>
                <a:ea typeface="Calibri" pitchFamily="34" charset="-122"/>
                <a:cs typeface="Calibri" pitchFamily="34" charset="-120"/>
              </a:rPr>
              <a:t>compile-</a:t>
            </a:r>
            <a:r>
              <a:rPr lang="en-US" sz="1000" dirty="0" err="1">
                <a:solidFill>
                  <a:schemeClr val="bg1"/>
                </a:solidFill>
                <a:latin typeface="Calibri" pitchFamily="34" charset="0"/>
                <a:ea typeface="Calibri" pitchFamily="34" charset="-122"/>
                <a:cs typeface="Calibri" pitchFamily="34" charset="-120"/>
              </a:rPr>
              <a:t>sast</a:t>
            </a:r>
            <a:r>
              <a:rPr lang="en-US" sz="1000" dirty="0">
                <a:solidFill>
                  <a:schemeClr val="bg1"/>
                </a:solidFill>
                <a:latin typeface="Calibri" pitchFamily="34" charset="0"/>
                <a:ea typeface="Calibri" pitchFamily="34" charset="-122"/>
                <a:cs typeface="Calibri" pitchFamily="34" charset="-120"/>
              </a:rPr>
              <a:t>  ·  </a:t>
            </a:r>
            <a:r>
              <a:rPr lang="en-US" sz="1000" dirty="0" err="1">
                <a:solidFill>
                  <a:schemeClr val="bg1"/>
                </a:solidFill>
                <a:latin typeface="Calibri" pitchFamily="34" charset="0"/>
                <a:ea typeface="Calibri" pitchFamily="34" charset="-122"/>
                <a:cs typeface="Calibri" pitchFamily="34" charset="-120"/>
              </a:rPr>
              <a:t>BSides</a:t>
            </a:r>
            <a:r>
              <a:rPr lang="en-US" sz="1000" dirty="0">
                <a:solidFill>
                  <a:schemeClr val="bg1"/>
                </a:solidFill>
                <a:latin typeface="Calibri" pitchFamily="34" charset="0"/>
                <a:ea typeface="Calibri" pitchFamily="34" charset="-122"/>
                <a:cs typeface="Calibri" pitchFamily="34" charset="-120"/>
              </a:rPr>
              <a:t> Houston 2026</a:t>
            </a:r>
            <a:endParaRPr lang="en-US" sz="10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PROJECT INFO</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What is compile-</a:t>
            </a:r>
            <a:r>
              <a:rPr lang="en-US" sz="4000" dirty="0" err="1">
                <a:solidFill>
                  <a:srgbClr val="201449"/>
                </a:solidFill>
                <a:latin typeface="Calibri" pitchFamily="34" charset="0"/>
                <a:ea typeface="Calibri" pitchFamily="34" charset="-122"/>
                <a:cs typeface="Calibri" pitchFamily="34" charset="-120"/>
              </a:rPr>
              <a:t>sast</a:t>
            </a:r>
            <a:r>
              <a:rPr lang="en-US" sz="4000" dirty="0">
                <a:solidFill>
                  <a:srgbClr val="201449"/>
                </a:solidFill>
                <a:latin typeface="Calibri" pitchFamily="34" charset="0"/>
                <a:ea typeface="Calibri" pitchFamily="34" charset="-122"/>
                <a:cs typeface="Calibri" pitchFamily="34" charset="-120"/>
              </a:rPr>
              <a:t>?</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7" name="Shape 5"/>
          <p:cNvSpPr/>
          <p:nvPr/>
        </p:nvSpPr>
        <p:spPr>
          <a:xfrm>
            <a:off x="548640" y="1965960"/>
            <a:ext cx="5577840" cy="1691640"/>
          </a:xfrm>
          <a:prstGeom prst="roundRect">
            <a:avLst>
              <a:gd name="adj" fmla="val 6486"/>
            </a:avLst>
          </a:prstGeom>
          <a:solidFill>
            <a:srgbClr val="F3F0FB"/>
          </a:solidFill>
          <a:ln w="12700">
            <a:solidFill>
              <a:srgbClr val="E4DEF6"/>
            </a:solidFill>
            <a:prstDash val="solid"/>
          </a:ln>
        </p:spPr>
        <p:txBody>
          <a:bodyPr/>
          <a:lstStyle/>
          <a:p>
            <a:endParaRPr lang="en-US"/>
          </a:p>
        </p:txBody>
      </p:sp>
      <p:sp>
        <p:nvSpPr>
          <p:cNvPr id="8" name="Shape 6"/>
          <p:cNvSpPr/>
          <p:nvPr/>
        </p:nvSpPr>
        <p:spPr>
          <a:xfrm>
            <a:off x="822960" y="2240280"/>
            <a:ext cx="201168" cy="128016"/>
          </a:xfrm>
          <a:prstGeom prst="rect">
            <a:avLst/>
          </a:prstGeom>
          <a:solidFill>
            <a:srgbClr val="F900A0"/>
          </a:solidFill>
          <a:ln/>
        </p:spPr>
        <p:txBody>
          <a:bodyPr/>
          <a:lstStyle/>
          <a:p>
            <a:endParaRPr lang="en-US"/>
          </a:p>
        </p:txBody>
      </p:sp>
      <p:sp>
        <p:nvSpPr>
          <p:cNvPr id="9" name="Text 7"/>
          <p:cNvSpPr txBox="1"/>
          <p:nvPr/>
        </p:nvSpPr>
        <p:spPr>
          <a:xfrm>
            <a:off x="1097280" y="2148840"/>
            <a:ext cx="4754880" cy="274320"/>
          </a:xfrm>
          <a:prstGeom prst="rect">
            <a:avLst/>
          </a:prstGeom>
          <a:noFill/>
          <a:ln/>
        </p:spPr>
        <p:txBody>
          <a:bodyPr wrap="square" lIns="0" tIns="0" rIns="0" bIns="0" rtlCol="0" anchor="ctr"/>
          <a:lstStyle/>
          <a:p>
            <a:pPr marL="0" indent="0" algn="l">
              <a:buNone/>
            </a:pPr>
            <a:r>
              <a:rPr lang="en-US" sz="1000" b="1" kern="0" spc="300" dirty="0">
                <a:solidFill>
                  <a:srgbClr val="201449"/>
                </a:solidFill>
                <a:latin typeface="Calibri" pitchFamily="34" charset="0"/>
                <a:ea typeface="Calibri" pitchFamily="34" charset="-122"/>
                <a:cs typeface="Calibri" pitchFamily="34" charset="-120"/>
              </a:rPr>
              <a:t>LANGUAGE</a:t>
            </a:r>
            <a:endParaRPr lang="en-US" sz="1000" dirty="0"/>
          </a:p>
        </p:txBody>
      </p:sp>
      <p:sp>
        <p:nvSpPr>
          <p:cNvPr id="10" name="Text 8"/>
          <p:cNvSpPr txBox="1"/>
          <p:nvPr/>
        </p:nvSpPr>
        <p:spPr>
          <a:xfrm>
            <a:off x="822960" y="2468880"/>
            <a:ext cx="5029200" cy="640080"/>
          </a:xfrm>
          <a:prstGeom prst="rect">
            <a:avLst/>
          </a:prstGeom>
          <a:noFill/>
          <a:ln/>
        </p:spPr>
        <p:txBody>
          <a:bodyPr wrap="square" lIns="0" tIns="0" rIns="0" bIns="0" rtlCol="0" anchor="ctr"/>
          <a:lstStyle/>
          <a:p>
            <a:pPr marL="0" indent="0" algn="l">
              <a:buNone/>
            </a:pPr>
            <a:r>
              <a:rPr lang="en-US" sz="3000" b="1" dirty="0">
                <a:solidFill>
                  <a:srgbClr val="201449"/>
                </a:solidFill>
                <a:latin typeface="Calibri" pitchFamily="34" charset="0"/>
                <a:ea typeface="Calibri" pitchFamily="34" charset="-122"/>
                <a:cs typeface="Calibri" pitchFamily="34" charset="-120"/>
              </a:rPr>
              <a:t>Kotlin</a:t>
            </a:r>
            <a:endParaRPr lang="en-US" sz="3000" dirty="0"/>
          </a:p>
        </p:txBody>
      </p:sp>
      <p:sp>
        <p:nvSpPr>
          <p:cNvPr id="11" name="Text 9"/>
          <p:cNvSpPr txBox="1"/>
          <p:nvPr/>
        </p:nvSpPr>
        <p:spPr>
          <a:xfrm>
            <a:off x="822960" y="3136392"/>
            <a:ext cx="5029200" cy="365760"/>
          </a:xfrm>
          <a:prstGeom prst="rect">
            <a:avLst/>
          </a:prstGeom>
          <a:noFill/>
          <a:ln/>
        </p:spPr>
        <p:txBody>
          <a:bodyPr wrap="square" lIns="0" tIns="0" rIns="0" bIns="0" rtlCol="0" anchor="ctr"/>
          <a:lstStyle/>
          <a:p>
            <a:pPr marL="0" indent="0" algn="l">
              <a:buNone/>
            </a:pPr>
            <a:r>
              <a:rPr lang="en-US" sz="1200" dirty="0">
                <a:solidFill>
                  <a:srgbClr val="6E6B7A"/>
                </a:solidFill>
                <a:latin typeface="Calibri" pitchFamily="34" charset="0"/>
                <a:ea typeface="Calibri" pitchFamily="34" charset="-122"/>
                <a:cs typeface="Calibri" pitchFamily="34" charset="-120"/>
              </a:rPr>
              <a:t>K2 / FIR compiler plugin</a:t>
            </a:r>
            <a:endParaRPr lang="en-US" sz="1200" dirty="0"/>
          </a:p>
        </p:txBody>
      </p:sp>
      <p:sp>
        <p:nvSpPr>
          <p:cNvPr id="12" name="Shape 10"/>
          <p:cNvSpPr/>
          <p:nvPr/>
        </p:nvSpPr>
        <p:spPr>
          <a:xfrm>
            <a:off x="6309360" y="1965960"/>
            <a:ext cx="5577840" cy="1691640"/>
          </a:xfrm>
          <a:prstGeom prst="roundRect">
            <a:avLst>
              <a:gd name="adj" fmla="val 6486"/>
            </a:avLst>
          </a:prstGeom>
          <a:solidFill>
            <a:srgbClr val="F3F0FB"/>
          </a:solidFill>
          <a:ln w="12700">
            <a:solidFill>
              <a:srgbClr val="E4DEF6"/>
            </a:solidFill>
            <a:prstDash val="solid"/>
          </a:ln>
        </p:spPr>
        <p:txBody>
          <a:bodyPr/>
          <a:lstStyle/>
          <a:p>
            <a:endParaRPr lang="en-US"/>
          </a:p>
        </p:txBody>
      </p:sp>
      <p:sp>
        <p:nvSpPr>
          <p:cNvPr id="13" name="Shape 11"/>
          <p:cNvSpPr/>
          <p:nvPr/>
        </p:nvSpPr>
        <p:spPr>
          <a:xfrm>
            <a:off x="6583680" y="2240280"/>
            <a:ext cx="201168" cy="128016"/>
          </a:xfrm>
          <a:prstGeom prst="rect">
            <a:avLst/>
          </a:prstGeom>
          <a:solidFill>
            <a:srgbClr val="F900A0"/>
          </a:solidFill>
          <a:ln/>
        </p:spPr>
        <p:txBody>
          <a:bodyPr/>
          <a:lstStyle/>
          <a:p>
            <a:endParaRPr lang="en-US"/>
          </a:p>
        </p:txBody>
      </p:sp>
      <p:sp>
        <p:nvSpPr>
          <p:cNvPr id="14" name="Text 12"/>
          <p:cNvSpPr txBox="1"/>
          <p:nvPr/>
        </p:nvSpPr>
        <p:spPr>
          <a:xfrm>
            <a:off x="6858000" y="2148840"/>
            <a:ext cx="4754880" cy="274320"/>
          </a:xfrm>
          <a:prstGeom prst="rect">
            <a:avLst/>
          </a:prstGeom>
          <a:noFill/>
          <a:ln/>
        </p:spPr>
        <p:txBody>
          <a:bodyPr wrap="square" lIns="0" tIns="0" rIns="0" bIns="0" rtlCol="0" anchor="ctr"/>
          <a:lstStyle/>
          <a:p>
            <a:pPr marL="0" indent="0" algn="l">
              <a:buNone/>
            </a:pPr>
            <a:r>
              <a:rPr lang="en-US" sz="1000" b="1" kern="0" spc="300" dirty="0">
                <a:solidFill>
                  <a:srgbClr val="201449"/>
                </a:solidFill>
                <a:latin typeface="Calibri" pitchFamily="34" charset="0"/>
                <a:ea typeface="Calibri" pitchFamily="34" charset="-122"/>
                <a:cs typeface="Calibri" pitchFamily="34" charset="-120"/>
              </a:rPr>
              <a:t>MAPPINGS</a:t>
            </a:r>
            <a:endParaRPr lang="en-US" sz="1000" dirty="0"/>
          </a:p>
        </p:txBody>
      </p:sp>
      <p:sp>
        <p:nvSpPr>
          <p:cNvPr id="15" name="Text 13"/>
          <p:cNvSpPr txBox="1"/>
          <p:nvPr/>
        </p:nvSpPr>
        <p:spPr>
          <a:xfrm>
            <a:off x="6583680" y="2468880"/>
            <a:ext cx="5029200" cy="640080"/>
          </a:xfrm>
          <a:prstGeom prst="rect">
            <a:avLst/>
          </a:prstGeom>
          <a:noFill/>
          <a:ln/>
        </p:spPr>
        <p:txBody>
          <a:bodyPr wrap="square" lIns="0" tIns="0" rIns="0" bIns="0" rtlCol="0" anchor="ctr"/>
          <a:lstStyle/>
          <a:p>
            <a:pPr marL="0" indent="0" algn="l">
              <a:buNone/>
            </a:pPr>
            <a:r>
              <a:rPr lang="en-US" sz="3000" b="1" dirty="0">
                <a:solidFill>
                  <a:srgbClr val="201449"/>
                </a:solidFill>
                <a:latin typeface="Calibri" pitchFamily="34" charset="0"/>
                <a:ea typeface="Calibri" pitchFamily="34" charset="-122"/>
                <a:cs typeface="Calibri" pitchFamily="34" charset="-120"/>
              </a:rPr>
              <a:t>10 OWASP/CWE-mapped vulnerability classes</a:t>
            </a:r>
            <a:endParaRPr lang="en-US" sz="3000" dirty="0"/>
          </a:p>
        </p:txBody>
      </p:sp>
      <p:sp>
        <p:nvSpPr>
          <p:cNvPr id="16" name="Text 14"/>
          <p:cNvSpPr txBox="1"/>
          <p:nvPr/>
        </p:nvSpPr>
        <p:spPr>
          <a:xfrm>
            <a:off x="6583680" y="3136392"/>
            <a:ext cx="5029200" cy="365760"/>
          </a:xfrm>
          <a:prstGeom prst="rect">
            <a:avLst/>
          </a:prstGeom>
          <a:noFill/>
          <a:ln/>
        </p:spPr>
        <p:txBody>
          <a:bodyPr wrap="square" lIns="0" tIns="0" rIns="0" bIns="0" rtlCol="0" anchor="ctr"/>
          <a:lstStyle/>
          <a:p>
            <a:pPr marL="0" indent="0" algn="l">
              <a:buNone/>
            </a:pPr>
            <a:r>
              <a:rPr lang="en-US" sz="1200" dirty="0">
                <a:solidFill>
                  <a:srgbClr val="6E6B7A"/>
                </a:solidFill>
                <a:latin typeface="Calibri" pitchFamily="34" charset="0"/>
                <a:ea typeface="Calibri" pitchFamily="34" charset="-122"/>
                <a:cs typeface="Calibri" pitchFamily="34" charset="-120"/>
              </a:rPr>
              <a:t>Enforced at build time</a:t>
            </a:r>
            <a:endParaRPr lang="en-US" sz="1200" dirty="0"/>
          </a:p>
        </p:txBody>
      </p:sp>
      <p:sp>
        <p:nvSpPr>
          <p:cNvPr id="17" name="Shape 15"/>
          <p:cNvSpPr/>
          <p:nvPr/>
        </p:nvSpPr>
        <p:spPr>
          <a:xfrm>
            <a:off x="548640" y="3931920"/>
            <a:ext cx="5577840" cy="1691640"/>
          </a:xfrm>
          <a:prstGeom prst="roundRect">
            <a:avLst>
              <a:gd name="adj" fmla="val 6486"/>
            </a:avLst>
          </a:prstGeom>
          <a:solidFill>
            <a:srgbClr val="F3F0FB"/>
          </a:solidFill>
          <a:ln w="12700">
            <a:solidFill>
              <a:srgbClr val="E4DEF6"/>
            </a:solidFill>
            <a:prstDash val="solid"/>
          </a:ln>
        </p:spPr>
        <p:txBody>
          <a:bodyPr/>
          <a:lstStyle/>
          <a:p>
            <a:endParaRPr lang="en-US"/>
          </a:p>
        </p:txBody>
      </p:sp>
      <p:sp>
        <p:nvSpPr>
          <p:cNvPr id="18" name="Shape 16"/>
          <p:cNvSpPr/>
          <p:nvPr/>
        </p:nvSpPr>
        <p:spPr>
          <a:xfrm>
            <a:off x="822960" y="4206240"/>
            <a:ext cx="201168" cy="128016"/>
          </a:xfrm>
          <a:prstGeom prst="rect">
            <a:avLst/>
          </a:prstGeom>
          <a:solidFill>
            <a:srgbClr val="F900A0"/>
          </a:solidFill>
          <a:ln/>
        </p:spPr>
        <p:txBody>
          <a:bodyPr/>
          <a:lstStyle/>
          <a:p>
            <a:endParaRPr lang="en-US"/>
          </a:p>
        </p:txBody>
      </p:sp>
      <p:sp>
        <p:nvSpPr>
          <p:cNvPr id="19" name="Text 17"/>
          <p:cNvSpPr txBox="1"/>
          <p:nvPr/>
        </p:nvSpPr>
        <p:spPr>
          <a:xfrm>
            <a:off x="1097280" y="4114800"/>
            <a:ext cx="4754880" cy="274320"/>
          </a:xfrm>
          <a:prstGeom prst="rect">
            <a:avLst/>
          </a:prstGeom>
          <a:noFill/>
          <a:ln/>
        </p:spPr>
        <p:txBody>
          <a:bodyPr wrap="square" lIns="0" tIns="0" rIns="0" bIns="0" rtlCol="0" anchor="ctr"/>
          <a:lstStyle/>
          <a:p>
            <a:pPr marL="0" indent="0" algn="l">
              <a:buNone/>
            </a:pPr>
            <a:r>
              <a:rPr lang="en-US" sz="1000" b="1" kern="0" spc="300" dirty="0">
                <a:solidFill>
                  <a:srgbClr val="201449"/>
                </a:solidFill>
                <a:latin typeface="Calibri" pitchFamily="34" charset="0"/>
                <a:ea typeface="Calibri" pitchFamily="34" charset="-122"/>
                <a:cs typeface="Calibri" pitchFamily="34" charset="-120"/>
              </a:rPr>
              <a:t>LICENSE</a:t>
            </a:r>
            <a:endParaRPr lang="en-US" sz="1000" dirty="0"/>
          </a:p>
        </p:txBody>
      </p:sp>
      <p:sp>
        <p:nvSpPr>
          <p:cNvPr id="20" name="Text 18"/>
          <p:cNvSpPr txBox="1"/>
          <p:nvPr/>
        </p:nvSpPr>
        <p:spPr>
          <a:xfrm>
            <a:off x="822960" y="4434840"/>
            <a:ext cx="5029200" cy="640080"/>
          </a:xfrm>
          <a:prstGeom prst="rect">
            <a:avLst/>
          </a:prstGeom>
          <a:noFill/>
          <a:ln/>
        </p:spPr>
        <p:txBody>
          <a:bodyPr wrap="square" lIns="0" tIns="0" rIns="0" bIns="0" rtlCol="0" anchor="ctr"/>
          <a:lstStyle/>
          <a:p>
            <a:pPr marL="0" indent="0" algn="l">
              <a:buNone/>
            </a:pPr>
            <a:r>
              <a:rPr lang="en-US" sz="3000" b="1" dirty="0">
                <a:solidFill>
                  <a:srgbClr val="201449"/>
                </a:solidFill>
                <a:latin typeface="Calibri" pitchFamily="34" charset="0"/>
                <a:ea typeface="Calibri" pitchFamily="34" charset="-122"/>
                <a:cs typeface="Calibri" pitchFamily="34" charset="-120"/>
              </a:rPr>
              <a:t>MIT</a:t>
            </a:r>
            <a:endParaRPr lang="en-US" sz="3000" dirty="0"/>
          </a:p>
        </p:txBody>
      </p:sp>
      <p:sp>
        <p:nvSpPr>
          <p:cNvPr id="21" name="Text 19"/>
          <p:cNvSpPr txBox="1"/>
          <p:nvPr/>
        </p:nvSpPr>
        <p:spPr>
          <a:xfrm>
            <a:off x="822960" y="5102352"/>
            <a:ext cx="5029200" cy="365760"/>
          </a:xfrm>
          <a:prstGeom prst="rect">
            <a:avLst/>
          </a:prstGeom>
          <a:noFill/>
          <a:ln/>
        </p:spPr>
        <p:txBody>
          <a:bodyPr wrap="square" lIns="0" tIns="0" rIns="0" bIns="0" rtlCol="0" anchor="ctr"/>
          <a:lstStyle/>
          <a:p>
            <a:pPr marL="0" indent="0" algn="l">
              <a:buNone/>
            </a:pPr>
            <a:r>
              <a:rPr lang="en-US" sz="1200" dirty="0">
                <a:solidFill>
                  <a:srgbClr val="6E6B7A"/>
                </a:solidFill>
                <a:latin typeface="Calibri" pitchFamily="34" charset="0"/>
                <a:ea typeface="Calibri" pitchFamily="34" charset="-122"/>
                <a:cs typeface="Calibri" pitchFamily="34" charset="-120"/>
              </a:rPr>
              <a:t>permissive, portfolio-friendly</a:t>
            </a:r>
            <a:endParaRPr lang="en-US" sz="1200" dirty="0"/>
          </a:p>
        </p:txBody>
      </p:sp>
      <p:sp>
        <p:nvSpPr>
          <p:cNvPr id="22" name="Shape 20"/>
          <p:cNvSpPr/>
          <p:nvPr/>
        </p:nvSpPr>
        <p:spPr>
          <a:xfrm>
            <a:off x="6309360" y="3931920"/>
            <a:ext cx="5577840" cy="1691640"/>
          </a:xfrm>
          <a:prstGeom prst="roundRect">
            <a:avLst>
              <a:gd name="adj" fmla="val 6486"/>
            </a:avLst>
          </a:prstGeom>
          <a:solidFill>
            <a:srgbClr val="F3F0FB"/>
          </a:solidFill>
          <a:ln w="12700">
            <a:solidFill>
              <a:srgbClr val="E4DEF6"/>
            </a:solidFill>
            <a:prstDash val="solid"/>
          </a:ln>
        </p:spPr>
        <p:txBody>
          <a:bodyPr/>
          <a:lstStyle/>
          <a:p>
            <a:endParaRPr lang="en-US"/>
          </a:p>
        </p:txBody>
      </p:sp>
      <p:sp>
        <p:nvSpPr>
          <p:cNvPr id="23" name="Shape 21"/>
          <p:cNvSpPr/>
          <p:nvPr/>
        </p:nvSpPr>
        <p:spPr>
          <a:xfrm>
            <a:off x="6583680" y="4206240"/>
            <a:ext cx="201168" cy="128016"/>
          </a:xfrm>
          <a:prstGeom prst="rect">
            <a:avLst/>
          </a:prstGeom>
          <a:solidFill>
            <a:srgbClr val="F900A0"/>
          </a:solidFill>
          <a:ln/>
        </p:spPr>
        <p:txBody>
          <a:bodyPr/>
          <a:lstStyle/>
          <a:p>
            <a:endParaRPr lang="en-US"/>
          </a:p>
        </p:txBody>
      </p:sp>
      <p:sp>
        <p:nvSpPr>
          <p:cNvPr id="24" name="Text 22"/>
          <p:cNvSpPr txBox="1"/>
          <p:nvPr/>
        </p:nvSpPr>
        <p:spPr>
          <a:xfrm>
            <a:off x="6858000" y="4114800"/>
            <a:ext cx="4754880" cy="274320"/>
          </a:xfrm>
          <a:prstGeom prst="rect">
            <a:avLst/>
          </a:prstGeom>
          <a:noFill/>
          <a:ln/>
        </p:spPr>
        <p:txBody>
          <a:bodyPr wrap="square" lIns="0" tIns="0" rIns="0" bIns="0" rtlCol="0" anchor="ctr"/>
          <a:lstStyle/>
          <a:p>
            <a:pPr marL="0" indent="0" algn="l">
              <a:buNone/>
            </a:pPr>
            <a:r>
              <a:rPr lang="en-US" sz="1000" b="1" kern="0" spc="300" dirty="0">
                <a:solidFill>
                  <a:srgbClr val="201449"/>
                </a:solidFill>
                <a:latin typeface="Calibri" pitchFamily="34" charset="0"/>
                <a:ea typeface="Calibri" pitchFamily="34" charset="-122"/>
                <a:cs typeface="Calibri" pitchFamily="34" charset="-120"/>
              </a:rPr>
              <a:t>DISTRIBUTION</a:t>
            </a:r>
            <a:endParaRPr lang="en-US" sz="1000" dirty="0"/>
          </a:p>
        </p:txBody>
      </p:sp>
      <p:sp>
        <p:nvSpPr>
          <p:cNvPr id="25" name="Text 23"/>
          <p:cNvSpPr txBox="1"/>
          <p:nvPr/>
        </p:nvSpPr>
        <p:spPr>
          <a:xfrm>
            <a:off x="6583680" y="4434840"/>
            <a:ext cx="5029200" cy="640080"/>
          </a:xfrm>
          <a:prstGeom prst="rect">
            <a:avLst/>
          </a:prstGeom>
          <a:noFill/>
          <a:ln/>
        </p:spPr>
        <p:txBody>
          <a:bodyPr wrap="square" lIns="0" tIns="0" rIns="0" bIns="0" rtlCol="0" anchor="ctr"/>
          <a:lstStyle/>
          <a:p>
            <a:pPr marL="0" indent="0" algn="l">
              <a:buNone/>
            </a:pPr>
            <a:r>
              <a:rPr lang="en-US" sz="3000" b="1" dirty="0">
                <a:solidFill>
                  <a:srgbClr val="201449"/>
                </a:solidFill>
                <a:latin typeface="Calibri" pitchFamily="34" charset="0"/>
                <a:ea typeface="Calibri" pitchFamily="34" charset="-122"/>
                <a:cs typeface="Calibri" pitchFamily="34" charset="-120"/>
              </a:rPr>
              <a:t>Maven Central</a:t>
            </a:r>
            <a:endParaRPr lang="en-US" sz="3000" dirty="0"/>
          </a:p>
        </p:txBody>
      </p:sp>
      <p:sp>
        <p:nvSpPr>
          <p:cNvPr id="26" name="Text 24"/>
          <p:cNvSpPr txBox="1"/>
          <p:nvPr/>
        </p:nvSpPr>
        <p:spPr>
          <a:xfrm>
            <a:off x="6583680" y="5102352"/>
            <a:ext cx="5029200" cy="365760"/>
          </a:xfrm>
          <a:prstGeom prst="rect">
            <a:avLst/>
          </a:prstGeom>
          <a:noFill/>
          <a:ln/>
        </p:spPr>
        <p:txBody>
          <a:bodyPr wrap="square" lIns="0" tIns="0" rIns="0" bIns="0" rtlCol="0" anchor="ctr"/>
          <a:lstStyle/>
          <a:p>
            <a:pPr marL="0" indent="0" algn="l">
              <a:buNone/>
            </a:pPr>
            <a:r>
              <a:rPr lang="en-US" sz="1200" dirty="0">
                <a:solidFill>
                  <a:srgbClr val="6E6B7A"/>
                </a:solidFill>
                <a:latin typeface="Calibri" pitchFamily="34" charset="0"/>
                <a:ea typeface="Calibri" pitchFamily="34" charset="-122"/>
                <a:cs typeface="Calibri" pitchFamily="34" charset="-120"/>
              </a:rPr>
              <a:t>+ Gradle Plugin Portal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SCOPE</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What is compile-sast not?</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6" name="Text 4"/>
          <p:cNvSpPr txBox="1"/>
          <p:nvPr/>
        </p:nvSpPr>
        <p:spPr>
          <a:xfrm>
            <a:off x="7985455" y="6492240"/>
            <a:ext cx="3657600" cy="228600"/>
          </a:xfrm>
          <a:prstGeom prst="rect">
            <a:avLst/>
          </a:prstGeom>
          <a:noFill/>
          <a:ln/>
        </p:spPr>
        <p:txBody>
          <a:bodyPr wrap="square" lIns="0" tIns="0" rIns="0" bIns="0" rtlCol="0" anchor="ctr"/>
          <a:lstStyle/>
          <a:p>
            <a:pPr marL="0" indent="0" algn="r">
              <a:buNone/>
            </a:pPr>
            <a:r>
              <a:rPr lang="en-US" sz="900" dirty="0">
                <a:solidFill>
                  <a:srgbClr val="6E6B7A"/>
                </a:solidFill>
                <a:latin typeface="Calibri" pitchFamily="34" charset="0"/>
                <a:ea typeface="Calibri" pitchFamily="34" charset="-122"/>
                <a:cs typeface="Calibri" pitchFamily="34" charset="-120"/>
              </a:rPr>
              <a:t>ziltonportfolio.io</a:t>
            </a:r>
            <a:endParaRPr lang="en-US" sz="900" dirty="0"/>
          </a:p>
        </p:txBody>
      </p:sp>
      <p:sp>
        <p:nvSpPr>
          <p:cNvPr id="7" name="Shape 5"/>
          <p:cNvSpPr/>
          <p:nvPr/>
        </p:nvSpPr>
        <p:spPr>
          <a:xfrm>
            <a:off x="548640" y="1874520"/>
            <a:ext cx="5577840" cy="1783080"/>
          </a:xfrm>
          <a:prstGeom prst="roundRect">
            <a:avLst>
              <a:gd name="adj" fmla="val 6154"/>
            </a:avLst>
          </a:prstGeom>
          <a:solidFill>
            <a:srgbClr val="F3F0FB"/>
          </a:solidFill>
          <a:ln w="12700">
            <a:solidFill>
              <a:srgbClr val="E4DEF6"/>
            </a:solidFill>
            <a:prstDash val="solid"/>
          </a:ln>
        </p:spPr>
        <p:txBody>
          <a:bodyPr/>
          <a:lstStyle/>
          <a:p>
            <a:endParaRPr lang="en-US"/>
          </a:p>
        </p:txBody>
      </p:sp>
      <p:sp>
        <p:nvSpPr>
          <p:cNvPr id="8" name="Shape 6"/>
          <p:cNvSpPr/>
          <p:nvPr/>
        </p:nvSpPr>
        <p:spPr>
          <a:xfrm>
            <a:off x="822960" y="2148840"/>
            <a:ext cx="201168" cy="128016"/>
          </a:xfrm>
          <a:prstGeom prst="rect">
            <a:avLst/>
          </a:prstGeom>
          <a:solidFill>
            <a:srgbClr val="F900A0"/>
          </a:solidFill>
          <a:ln/>
        </p:spPr>
        <p:txBody>
          <a:bodyPr/>
          <a:lstStyle/>
          <a:p>
            <a:endParaRPr lang="en-US"/>
          </a:p>
        </p:txBody>
      </p:sp>
      <p:sp>
        <p:nvSpPr>
          <p:cNvPr id="9" name="Text 7"/>
          <p:cNvSpPr txBox="1"/>
          <p:nvPr/>
        </p:nvSpPr>
        <p:spPr>
          <a:xfrm>
            <a:off x="822960" y="2377440"/>
            <a:ext cx="5029200" cy="45720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Not a full SAST</a:t>
            </a:r>
            <a:endParaRPr lang="en-US" sz="2000" dirty="0"/>
          </a:p>
        </p:txBody>
      </p:sp>
      <p:sp>
        <p:nvSpPr>
          <p:cNvPr id="10" name="Text 8"/>
          <p:cNvSpPr txBox="1"/>
          <p:nvPr/>
        </p:nvSpPr>
        <p:spPr>
          <a:xfrm>
            <a:off x="822960" y="2834640"/>
            <a:ext cx="5029200" cy="777240"/>
          </a:xfrm>
          <a:prstGeom prst="rect">
            <a:avLst/>
          </a:prstGeom>
          <a:noFill/>
          <a:ln/>
        </p:spPr>
        <p:txBody>
          <a:bodyPr wrap="square" lIns="0" tIns="0" rIns="0" bIns="0" rtlCol="0" anchor="t"/>
          <a:lstStyle/>
          <a:p>
            <a:pPr marL="0" indent="0" algn="l">
              <a:buNone/>
            </a:pPr>
            <a:r>
              <a:rPr lang="en-US" sz="1250" dirty="0">
                <a:solidFill>
                  <a:srgbClr val="201449"/>
                </a:solidFill>
                <a:latin typeface="Calibri" pitchFamily="34" charset="0"/>
                <a:ea typeface="Calibri" pitchFamily="34" charset="-122"/>
                <a:cs typeface="Calibri" pitchFamily="34" charset="-120"/>
              </a:rPr>
              <a:t>No taint tracking, no cross-procedural dataflow, no whole-program analysis. Semgrep, Snyk Code, and CodeQL still catch things this can’t.</a:t>
            </a:r>
            <a:endParaRPr lang="en-US" sz="1250" dirty="0"/>
          </a:p>
        </p:txBody>
      </p:sp>
      <p:sp>
        <p:nvSpPr>
          <p:cNvPr id="11" name="Shape 9"/>
          <p:cNvSpPr/>
          <p:nvPr/>
        </p:nvSpPr>
        <p:spPr>
          <a:xfrm>
            <a:off x="6309360" y="1874520"/>
            <a:ext cx="5577840" cy="1783080"/>
          </a:xfrm>
          <a:prstGeom prst="roundRect">
            <a:avLst>
              <a:gd name="adj" fmla="val 6154"/>
            </a:avLst>
          </a:prstGeom>
          <a:solidFill>
            <a:srgbClr val="F3F0FB"/>
          </a:solidFill>
          <a:ln w="12700">
            <a:solidFill>
              <a:srgbClr val="E4DEF6"/>
            </a:solidFill>
            <a:prstDash val="solid"/>
          </a:ln>
        </p:spPr>
        <p:txBody>
          <a:bodyPr/>
          <a:lstStyle/>
          <a:p>
            <a:endParaRPr lang="en-US"/>
          </a:p>
        </p:txBody>
      </p:sp>
      <p:sp>
        <p:nvSpPr>
          <p:cNvPr id="12" name="Shape 10"/>
          <p:cNvSpPr/>
          <p:nvPr/>
        </p:nvSpPr>
        <p:spPr>
          <a:xfrm>
            <a:off x="6583680" y="2148840"/>
            <a:ext cx="201168" cy="128016"/>
          </a:xfrm>
          <a:prstGeom prst="rect">
            <a:avLst/>
          </a:prstGeom>
          <a:solidFill>
            <a:srgbClr val="F900A0"/>
          </a:solidFill>
          <a:ln/>
        </p:spPr>
        <p:txBody>
          <a:bodyPr/>
          <a:lstStyle/>
          <a:p>
            <a:endParaRPr lang="en-US"/>
          </a:p>
        </p:txBody>
      </p:sp>
      <p:sp>
        <p:nvSpPr>
          <p:cNvPr id="13" name="Text 11"/>
          <p:cNvSpPr txBox="1"/>
          <p:nvPr/>
        </p:nvSpPr>
        <p:spPr>
          <a:xfrm>
            <a:off x="6583680" y="2377440"/>
            <a:ext cx="5029200" cy="45720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Not a dependency scanner</a:t>
            </a:r>
            <a:endParaRPr lang="en-US" sz="2000" dirty="0"/>
          </a:p>
        </p:txBody>
      </p:sp>
      <p:sp>
        <p:nvSpPr>
          <p:cNvPr id="14" name="Text 12"/>
          <p:cNvSpPr txBox="1"/>
          <p:nvPr/>
        </p:nvSpPr>
        <p:spPr>
          <a:xfrm>
            <a:off x="6583680" y="2834640"/>
            <a:ext cx="5029200" cy="777240"/>
          </a:xfrm>
          <a:prstGeom prst="rect">
            <a:avLst/>
          </a:prstGeom>
          <a:noFill/>
          <a:ln/>
        </p:spPr>
        <p:txBody>
          <a:bodyPr wrap="square" lIns="0" tIns="0" rIns="0" bIns="0" rtlCol="0" anchor="t"/>
          <a:lstStyle/>
          <a:p>
            <a:pPr marL="0" indent="0" algn="l">
              <a:buNone/>
            </a:pPr>
            <a:r>
              <a:rPr lang="en-US" sz="1250" dirty="0">
                <a:solidFill>
                  <a:srgbClr val="201449"/>
                </a:solidFill>
                <a:latin typeface="Calibri" pitchFamily="34" charset="0"/>
                <a:ea typeface="Calibri" pitchFamily="34" charset="-122"/>
                <a:cs typeface="Calibri" pitchFamily="34" charset="-120"/>
              </a:rPr>
              <a:t>compile-sast checks your source. Third-party libraries and transitive dependencies are still your SCA tool’s job.</a:t>
            </a:r>
            <a:endParaRPr lang="en-US" sz="1250" dirty="0"/>
          </a:p>
        </p:txBody>
      </p:sp>
      <p:sp>
        <p:nvSpPr>
          <p:cNvPr id="15" name="Shape 13"/>
          <p:cNvSpPr/>
          <p:nvPr/>
        </p:nvSpPr>
        <p:spPr>
          <a:xfrm>
            <a:off x="548640" y="3840480"/>
            <a:ext cx="5577840" cy="1783080"/>
          </a:xfrm>
          <a:prstGeom prst="roundRect">
            <a:avLst>
              <a:gd name="adj" fmla="val 6154"/>
            </a:avLst>
          </a:prstGeom>
          <a:solidFill>
            <a:srgbClr val="F3F0FB"/>
          </a:solidFill>
          <a:ln w="12700">
            <a:solidFill>
              <a:srgbClr val="E4DEF6"/>
            </a:solidFill>
            <a:prstDash val="solid"/>
          </a:ln>
        </p:spPr>
        <p:txBody>
          <a:bodyPr/>
          <a:lstStyle/>
          <a:p>
            <a:endParaRPr lang="en-US"/>
          </a:p>
        </p:txBody>
      </p:sp>
      <p:sp>
        <p:nvSpPr>
          <p:cNvPr id="16" name="Shape 14"/>
          <p:cNvSpPr/>
          <p:nvPr/>
        </p:nvSpPr>
        <p:spPr>
          <a:xfrm>
            <a:off x="822960" y="4114800"/>
            <a:ext cx="201168" cy="128016"/>
          </a:xfrm>
          <a:prstGeom prst="rect">
            <a:avLst/>
          </a:prstGeom>
          <a:solidFill>
            <a:srgbClr val="F900A0"/>
          </a:solidFill>
          <a:ln/>
        </p:spPr>
        <p:txBody>
          <a:bodyPr/>
          <a:lstStyle/>
          <a:p>
            <a:endParaRPr lang="en-US"/>
          </a:p>
        </p:txBody>
      </p:sp>
      <p:sp>
        <p:nvSpPr>
          <p:cNvPr id="17" name="Text 15"/>
          <p:cNvSpPr txBox="1"/>
          <p:nvPr/>
        </p:nvSpPr>
        <p:spPr>
          <a:xfrm>
            <a:off x="822960" y="4343400"/>
            <a:ext cx="5029200" cy="45720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Not language-agnostic</a:t>
            </a:r>
            <a:endParaRPr lang="en-US" sz="2000" dirty="0"/>
          </a:p>
        </p:txBody>
      </p:sp>
      <p:sp>
        <p:nvSpPr>
          <p:cNvPr id="18" name="Text 16"/>
          <p:cNvSpPr txBox="1"/>
          <p:nvPr/>
        </p:nvSpPr>
        <p:spPr>
          <a:xfrm>
            <a:off x="822960" y="4800600"/>
            <a:ext cx="5029200" cy="777240"/>
          </a:xfrm>
          <a:prstGeom prst="rect">
            <a:avLst/>
          </a:prstGeom>
          <a:noFill/>
          <a:ln/>
        </p:spPr>
        <p:txBody>
          <a:bodyPr wrap="square" lIns="0" tIns="0" rIns="0" bIns="0" rtlCol="0" anchor="t"/>
          <a:lstStyle/>
          <a:p>
            <a:pPr marL="0" indent="0" algn="l">
              <a:buNone/>
            </a:pPr>
            <a:r>
              <a:rPr lang="en-US" sz="1250" dirty="0">
                <a:solidFill>
                  <a:srgbClr val="201449"/>
                </a:solidFill>
                <a:latin typeface="Calibri" pitchFamily="34" charset="0"/>
                <a:ea typeface="Calibri" pitchFamily="34" charset="-122"/>
                <a:cs typeface="Calibri" pitchFamily="34" charset="-120"/>
              </a:rPr>
              <a:t>Kotlin only, tied to the K2/FIR checker API. The idea generalizes; the plugin doesn’t.</a:t>
            </a:r>
            <a:endParaRPr lang="en-US" sz="1250" dirty="0"/>
          </a:p>
        </p:txBody>
      </p:sp>
      <p:sp>
        <p:nvSpPr>
          <p:cNvPr id="19" name="Shape 17"/>
          <p:cNvSpPr/>
          <p:nvPr/>
        </p:nvSpPr>
        <p:spPr>
          <a:xfrm>
            <a:off x="6309360" y="3840480"/>
            <a:ext cx="5577840" cy="1783080"/>
          </a:xfrm>
          <a:prstGeom prst="roundRect">
            <a:avLst>
              <a:gd name="adj" fmla="val 6154"/>
            </a:avLst>
          </a:prstGeom>
          <a:solidFill>
            <a:srgbClr val="F3F0FB"/>
          </a:solidFill>
          <a:ln w="12700">
            <a:solidFill>
              <a:srgbClr val="E4DEF6"/>
            </a:solidFill>
            <a:prstDash val="solid"/>
          </a:ln>
        </p:spPr>
        <p:txBody>
          <a:bodyPr/>
          <a:lstStyle/>
          <a:p>
            <a:endParaRPr lang="en-US"/>
          </a:p>
        </p:txBody>
      </p:sp>
      <p:sp>
        <p:nvSpPr>
          <p:cNvPr id="20" name="Shape 18"/>
          <p:cNvSpPr/>
          <p:nvPr/>
        </p:nvSpPr>
        <p:spPr>
          <a:xfrm>
            <a:off x="6583680" y="4114800"/>
            <a:ext cx="201168" cy="128016"/>
          </a:xfrm>
          <a:prstGeom prst="rect">
            <a:avLst/>
          </a:prstGeom>
          <a:solidFill>
            <a:srgbClr val="F900A0"/>
          </a:solidFill>
          <a:ln/>
        </p:spPr>
        <p:txBody>
          <a:bodyPr/>
          <a:lstStyle/>
          <a:p>
            <a:endParaRPr lang="en-US"/>
          </a:p>
        </p:txBody>
      </p:sp>
      <p:sp>
        <p:nvSpPr>
          <p:cNvPr id="21" name="Text 19"/>
          <p:cNvSpPr txBox="1"/>
          <p:nvPr/>
        </p:nvSpPr>
        <p:spPr>
          <a:xfrm>
            <a:off x="6583680" y="4343400"/>
            <a:ext cx="5029200" cy="45720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Not exhaustive</a:t>
            </a:r>
            <a:endParaRPr lang="en-US" sz="2000" dirty="0"/>
          </a:p>
        </p:txBody>
      </p:sp>
      <p:sp>
        <p:nvSpPr>
          <p:cNvPr id="22" name="Text 20"/>
          <p:cNvSpPr txBox="1"/>
          <p:nvPr/>
        </p:nvSpPr>
        <p:spPr>
          <a:xfrm>
            <a:off x="6583680" y="4800600"/>
            <a:ext cx="5029200" cy="777240"/>
          </a:xfrm>
          <a:prstGeom prst="rect">
            <a:avLst/>
          </a:prstGeom>
          <a:noFill/>
          <a:ln/>
        </p:spPr>
        <p:txBody>
          <a:bodyPr wrap="square" lIns="0" tIns="0" rIns="0" bIns="0" rtlCol="0" anchor="t"/>
          <a:lstStyle/>
          <a:p>
            <a:pPr marL="0" indent="0" algn="l">
              <a:buNone/>
            </a:pPr>
            <a:r>
              <a:rPr lang="en-US" sz="1250" dirty="0">
                <a:solidFill>
                  <a:srgbClr val="201449"/>
                </a:solidFill>
                <a:latin typeface="Calibri" pitchFamily="34" charset="0"/>
                <a:ea typeface="Calibri" pitchFamily="34" charset="-122"/>
                <a:cs typeface="Calibri" pitchFamily="34" charset="-120"/>
              </a:rPr>
              <a:t>Each rule targets specific syntactic patterns, not every possible expression of its CWE. False negatives are real: that’s the trade-off for being safe to make blocking.</a:t>
            </a:r>
            <a:endParaRPr lang="en-US" sz="1250" dirty="0"/>
          </a:p>
        </p:txBody>
      </p:sp>
      <p:sp>
        <p:nvSpPr>
          <p:cNvPr id="23" name="Text 21"/>
          <p:cNvSpPr txBox="1"/>
          <p:nvPr/>
        </p:nvSpPr>
        <p:spPr>
          <a:xfrm>
            <a:off x="548640" y="5989320"/>
            <a:ext cx="11094415" cy="365760"/>
          </a:xfrm>
          <a:prstGeom prst="rect">
            <a:avLst/>
          </a:prstGeom>
          <a:noFill/>
          <a:ln/>
        </p:spPr>
        <p:txBody>
          <a:bodyPr wrap="square" lIns="0" tIns="0" rIns="0" bIns="0" rtlCol="0" anchor="ctr"/>
          <a:lstStyle/>
          <a:p>
            <a:pPr marL="0" indent="0" algn="l">
              <a:buNone/>
            </a:pPr>
            <a:r>
              <a:rPr lang="en-US" sz="1400" i="1" dirty="0">
                <a:solidFill>
                  <a:srgbClr val="201449"/>
                </a:solidFill>
                <a:latin typeface="Calibri" pitchFamily="34" charset="0"/>
                <a:ea typeface="Calibri" pitchFamily="34" charset="-122"/>
                <a:cs typeface="Calibri" pitchFamily="34" charset="-120"/>
              </a:rPr>
              <a:t>Complementary, not competitive. Keep this in your build; keep your SAST and SCA in CI.</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3465F73-5EF4-6A19-E06D-D04F244C4CA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13A3FFE-925B-A2A6-3453-E3C128E9AFA7}"/>
              </a:ext>
            </a:extLst>
          </p:cNvPr>
          <p:cNvSpPr/>
          <p:nvPr/>
        </p:nvSpPr>
        <p:spPr>
          <a:xfrm>
            <a:off x="548640" y="457200"/>
            <a:ext cx="228600" cy="137160"/>
          </a:xfrm>
          <a:prstGeom prst="rect">
            <a:avLst/>
          </a:prstGeom>
          <a:solidFill>
            <a:srgbClr val="F900A0"/>
          </a:solidFill>
          <a:ln/>
        </p:spPr>
        <p:txBody>
          <a:bodyPr/>
          <a:lstStyle/>
          <a:p>
            <a:endParaRPr lang="en-US"/>
          </a:p>
        </p:txBody>
      </p:sp>
      <p:sp>
        <p:nvSpPr>
          <p:cNvPr id="3" name="Text 1">
            <a:extLst>
              <a:ext uri="{FF2B5EF4-FFF2-40B4-BE49-F238E27FC236}">
                <a16:creationId xmlns:a16="http://schemas.microsoft.com/office/drawing/2014/main" id="{346F1869-F114-168A-44D3-D24095D0A2C3}"/>
              </a:ext>
            </a:extLst>
          </p:cNvPr>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PROJECT LIMITATIONS</a:t>
            </a:r>
            <a:endParaRPr lang="en-US" sz="1100" dirty="0"/>
          </a:p>
        </p:txBody>
      </p:sp>
      <p:sp>
        <p:nvSpPr>
          <p:cNvPr id="4" name="Text 2">
            <a:extLst>
              <a:ext uri="{FF2B5EF4-FFF2-40B4-BE49-F238E27FC236}">
                <a16:creationId xmlns:a16="http://schemas.microsoft.com/office/drawing/2014/main" id="{A4D0B958-39F9-30DB-17F9-35F8215AB000}"/>
              </a:ext>
            </a:extLst>
          </p:cNvPr>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What is compile-</a:t>
            </a:r>
            <a:r>
              <a:rPr lang="en-US" sz="4000" dirty="0" err="1">
                <a:solidFill>
                  <a:srgbClr val="201449"/>
                </a:solidFill>
                <a:latin typeface="Calibri" pitchFamily="34" charset="0"/>
                <a:ea typeface="Calibri" pitchFamily="34" charset="-122"/>
                <a:cs typeface="Calibri" pitchFamily="34" charset="-120"/>
              </a:rPr>
              <a:t>sast</a:t>
            </a:r>
            <a:r>
              <a:rPr lang="en-US" sz="4000" dirty="0">
                <a:solidFill>
                  <a:srgbClr val="201449"/>
                </a:solidFill>
                <a:latin typeface="Calibri" pitchFamily="34" charset="0"/>
                <a:ea typeface="Calibri" pitchFamily="34" charset="-122"/>
                <a:cs typeface="Calibri" pitchFamily="34" charset="-120"/>
              </a:rPr>
              <a:t> not?</a:t>
            </a:r>
            <a:endParaRPr lang="en-US" sz="4000" dirty="0"/>
          </a:p>
        </p:txBody>
      </p:sp>
      <p:sp>
        <p:nvSpPr>
          <p:cNvPr id="5" name="Text 3">
            <a:extLst>
              <a:ext uri="{FF2B5EF4-FFF2-40B4-BE49-F238E27FC236}">
                <a16:creationId xmlns:a16="http://schemas.microsoft.com/office/drawing/2014/main" id="{6281EEE1-D588-B4DC-0E4C-83BFF7C2026B}"/>
              </a:ext>
            </a:extLst>
          </p:cNvPr>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7" name="Shape 5">
            <a:extLst>
              <a:ext uri="{FF2B5EF4-FFF2-40B4-BE49-F238E27FC236}">
                <a16:creationId xmlns:a16="http://schemas.microsoft.com/office/drawing/2014/main" id="{B0D5F475-A3D3-F57A-9B80-0A9A53360BFA}"/>
              </a:ext>
            </a:extLst>
          </p:cNvPr>
          <p:cNvSpPr/>
          <p:nvPr/>
        </p:nvSpPr>
        <p:spPr>
          <a:xfrm>
            <a:off x="548640" y="1965960"/>
            <a:ext cx="5577840" cy="1691640"/>
          </a:xfrm>
          <a:prstGeom prst="roundRect">
            <a:avLst>
              <a:gd name="adj" fmla="val 6486"/>
            </a:avLst>
          </a:prstGeom>
          <a:solidFill>
            <a:srgbClr val="F3F0FB"/>
          </a:solidFill>
          <a:ln w="12700">
            <a:solidFill>
              <a:srgbClr val="E4DEF6"/>
            </a:solidFill>
            <a:prstDash val="solid"/>
          </a:ln>
        </p:spPr>
        <p:txBody>
          <a:bodyPr/>
          <a:lstStyle/>
          <a:p>
            <a:endParaRPr lang="en-US"/>
          </a:p>
        </p:txBody>
      </p:sp>
      <p:sp>
        <p:nvSpPr>
          <p:cNvPr id="8" name="Shape 6">
            <a:extLst>
              <a:ext uri="{FF2B5EF4-FFF2-40B4-BE49-F238E27FC236}">
                <a16:creationId xmlns:a16="http://schemas.microsoft.com/office/drawing/2014/main" id="{1E8530EB-78D1-4F25-B373-B758160AB388}"/>
              </a:ext>
            </a:extLst>
          </p:cNvPr>
          <p:cNvSpPr/>
          <p:nvPr/>
        </p:nvSpPr>
        <p:spPr>
          <a:xfrm>
            <a:off x="822960" y="2240280"/>
            <a:ext cx="201168" cy="128016"/>
          </a:xfrm>
          <a:prstGeom prst="rect">
            <a:avLst/>
          </a:prstGeom>
          <a:solidFill>
            <a:srgbClr val="F900A0"/>
          </a:solidFill>
          <a:ln/>
        </p:spPr>
        <p:txBody>
          <a:bodyPr/>
          <a:lstStyle/>
          <a:p>
            <a:endParaRPr lang="en-US"/>
          </a:p>
        </p:txBody>
      </p:sp>
      <p:sp>
        <p:nvSpPr>
          <p:cNvPr id="9" name="Text 7">
            <a:extLst>
              <a:ext uri="{FF2B5EF4-FFF2-40B4-BE49-F238E27FC236}">
                <a16:creationId xmlns:a16="http://schemas.microsoft.com/office/drawing/2014/main" id="{18076CBE-A38E-AF7B-3C93-579E1AF0850B}"/>
              </a:ext>
            </a:extLst>
          </p:cNvPr>
          <p:cNvSpPr txBox="1"/>
          <p:nvPr/>
        </p:nvSpPr>
        <p:spPr>
          <a:xfrm>
            <a:off x="1097280" y="2148840"/>
            <a:ext cx="4754880" cy="274320"/>
          </a:xfrm>
          <a:prstGeom prst="rect">
            <a:avLst/>
          </a:prstGeom>
          <a:noFill/>
          <a:ln/>
        </p:spPr>
        <p:txBody>
          <a:bodyPr wrap="square" lIns="0" tIns="0" rIns="0" bIns="0" rtlCol="0" anchor="ctr"/>
          <a:lstStyle/>
          <a:p>
            <a:pPr marL="0" indent="0" algn="l">
              <a:buNone/>
            </a:pPr>
            <a:r>
              <a:rPr lang="en-US" sz="1000" b="1" kern="0" spc="300" dirty="0">
                <a:solidFill>
                  <a:srgbClr val="201449"/>
                </a:solidFill>
                <a:latin typeface="Calibri" pitchFamily="34" charset="0"/>
                <a:ea typeface="Calibri" pitchFamily="34" charset="-122"/>
                <a:cs typeface="Calibri" pitchFamily="34" charset="-120"/>
              </a:rPr>
              <a:t>LANGUAGE</a:t>
            </a:r>
            <a:endParaRPr lang="en-US" sz="1000" dirty="0"/>
          </a:p>
        </p:txBody>
      </p:sp>
      <p:sp>
        <p:nvSpPr>
          <p:cNvPr id="10" name="Text 8">
            <a:extLst>
              <a:ext uri="{FF2B5EF4-FFF2-40B4-BE49-F238E27FC236}">
                <a16:creationId xmlns:a16="http://schemas.microsoft.com/office/drawing/2014/main" id="{BA9E36F4-EAF5-A5E1-B0A7-B79189CC92A6}"/>
              </a:ext>
            </a:extLst>
          </p:cNvPr>
          <p:cNvSpPr txBox="1"/>
          <p:nvPr/>
        </p:nvSpPr>
        <p:spPr>
          <a:xfrm>
            <a:off x="822960" y="2468880"/>
            <a:ext cx="5029200" cy="640080"/>
          </a:xfrm>
          <a:prstGeom prst="rect">
            <a:avLst/>
          </a:prstGeom>
          <a:noFill/>
          <a:ln/>
        </p:spPr>
        <p:txBody>
          <a:bodyPr wrap="square" lIns="0" tIns="0" rIns="0" bIns="0" rtlCol="0" anchor="ctr"/>
          <a:lstStyle/>
          <a:p>
            <a:pPr marL="0" indent="0" algn="l">
              <a:buNone/>
            </a:pPr>
            <a:r>
              <a:rPr lang="en-US" sz="3000" b="1" dirty="0">
                <a:solidFill>
                  <a:srgbClr val="201449"/>
                </a:solidFill>
                <a:latin typeface="Calibri" pitchFamily="34" charset="0"/>
                <a:ea typeface="Calibri" pitchFamily="34" charset="-122"/>
                <a:cs typeface="Calibri" pitchFamily="34" charset="-120"/>
              </a:rPr>
              <a:t>Kotlin</a:t>
            </a:r>
            <a:endParaRPr lang="en-US" sz="3000" dirty="0"/>
          </a:p>
        </p:txBody>
      </p:sp>
      <p:sp>
        <p:nvSpPr>
          <p:cNvPr id="11" name="Text 9">
            <a:extLst>
              <a:ext uri="{FF2B5EF4-FFF2-40B4-BE49-F238E27FC236}">
                <a16:creationId xmlns:a16="http://schemas.microsoft.com/office/drawing/2014/main" id="{5FDCD3C9-614D-A0BC-2FC5-DFA4D6BBC671}"/>
              </a:ext>
            </a:extLst>
          </p:cNvPr>
          <p:cNvSpPr txBox="1"/>
          <p:nvPr/>
        </p:nvSpPr>
        <p:spPr>
          <a:xfrm>
            <a:off x="822960" y="3136392"/>
            <a:ext cx="5029200" cy="365760"/>
          </a:xfrm>
          <a:prstGeom prst="rect">
            <a:avLst/>
          </a:prstGeom>
          <a:noFill/>
          <a:ln/>
        </p:spPr>
        <p:txBody>
          <a:bodyPr wrap="square" lIns="0" tIns="0" rIns="0" bIns="0" rtlCol="0" anchor="ctr"/>
          <a:lstStyle/>
          <a:p>
            <a:pPr marL="0" indent="0" algn="l">
              <a:buNone/>
            </a:pPr>
            <a:r>
              <a:rPr lang="en-US" sz="1200" dirty="0">
                <a:solidFill>
                  <a:srgbClr val="6E6B7A"/>
                </a:solidFill>
                <a:latin typeface="Calibri" pitchFamily="34" charset="0"/>
                <a:ea typeface="Calibri" pitchFamily="34" charset="-122"/>
                <a:cs typeface="Calibri" pitchFamily="34" charset="-120"/>
              </a:rPr>
              <a:t>K2 / FIR compiler plugin</a:t>
            </a:r>
            <a:endParaRPr lang="en-US" sz="1200" dirty="0"/>
          </a:p>
        </p:txBody>
      </p:sp>
      <p:sp>
        <p:nvSpPr>
          <p:cNvPr id="12" name="Shape 10">
            <a:extLst>
              <a:ext uri="{FF2B5EF4-FFF2-40B4-BE49-F238E27FC236}">
                <a16:creationId xmlns:a16="http://schemas.microsoft.com/office/drawing/2014/main" id="{D40FAD01-C32C-1287-405B-90ABBE78A2FB}"/>
              </a:ext>
            </a:extLst>
          </p:cNvPr>
          <p:cNvSpPr/>
          <p:nvPr/>
        </p:nvSpPr>
        <p:spPr>
          <a:xfrm>
            <a:off x="6309360" y="1965960"/>
            <a:ext cx="5577840" cy="1691640"/>
          </a:xfrm>
          <a:prstGeom prst="roundRect">
            <a:avLst>
              <a:gd name="adj" fmla="val 6486"/>
            </a:avLst>
          </a:prstGeom>
          <a:solidFill>
            <a:srgbClr val="F3F0FB"/>
          </a:solidFill>
          <a:ln w="12700">
            <a:solidFill>
              <a:srgbClr val="E4DEF6"/>
            </a:solidFill>
            <a:prstDash val="solid"/>
          </a:ln>
        </p:spPr>
        <p:txBody>
          <a:bodyPr/>
          <a:lstStyle/>
          <a:p>
            <a:endParaRPr lang="en-US"/>
          </a:p>
        </p:txBody>
      </p:sp>
      <p:sp>
        <p:nvSpPr>
          <p:cNvPr id="13" name="Shape 11">
            <a:extLst>
              <a:ext uri="{FF2B5EF4-FFF2-40B4-BE49-F238E27FC236}">
                <a16:creationId xmlns:a16="http://schemas.microsoft.com/office/drawing/2014/main" id="{098EF696-54A9-832C-16D2-18A8CAEC057B}"/>
              </a:ext>
            </a:extLst>
          </p:cNvPr>
          <p:cNvSpPr/>
          <p:nvPr/>
        </p:nvSpPr>
        <p:spPr>
          <a:xfrm>
            <a:off x="6583680" y="2240280"/>
            <a:ext cx="201168" cy="128016"/>
          </a:xfrm>
          <a:prstGeom prst="rect">
            <a:avLst/>
          </a:prstGeom>
          <a:solidFill>
            <a:srgbClr val="F900A0"/>
          </a:solidFill>
          <a:ln/>
        </p:spPr>
        <p:txBody>
          <a:bodyPr/>
          <a:lstStyle/>
          <a:p>
            <a:endParaRPr lang="en-US"/>
          </a:p>
        </p:txBody>
      </p:sp>
      <p:sp>
        <p:nvSpPr>
          <p:cNvPr id="14" name="Text 12">
            <a:extLst>
              <a:ext uri="{FF2B5EF4-FFF2-40B4-BE49-F238E27FC236}">
                <a16:creationId xmlns:a16="http://schemas.microsoft.com/office/drawing/2014/main" id="{71AA082B-A921-2129-CBAE-F6F0A402A667}"/>
              </a:ext>
            </a:extLst>
          </p:cNvPr>
          <p:cNvSpPr txBox="1"/>
          <p:nvPr/>
        </p:nvSpPr>
        <p:spPr>
          <a:xfrm>
            <a:off x="6858000" y="2148840"/>
            <a:ext cx="4754880" cy="274320"/>
          </a:xfrm>
          <a:prstGeom prst="rect">
            <a:avLst/>
          </a:prstGeom>
          <a:noFill/>
          <a:ln/>
        </p:spPr>
        <p:txBody>
          <a:bodyPr wrap="square" lIns="0" tIns="0" rIns="0" bIns="0" rtlCol="0" anchor="ctr"/>
          <a:lstStyle/>
          <a:p>
            <a:pPr marL="0" indent="0" algn="l">
              <a:buNone/>
            </a:pPr>
            <a:r>
              <a:rPr lang="en-US" sz="1000" b="1" kern="0" spc="300" dirty="0">
                <a:solidFill>
                  <a:srgbClr val="201449"/>
                </a:solidFill>
                <a:latin typeface="Calibri" pitchFamily="34" charset="0"/>
                <a:ea typeface="Calibri" pitchFamily="34" charset="-122"/>
                <a:cs typeface="Calibri" pitchFamily="34" charset="-120"/>
              </a:rPr>
              <a:t>MAPPINGS</a:t>
            </a:r>
            <a:endParaRPr lang="en-US" sz="1000" dirty="0"/>
          </a:p>
        </p:txBody>
      </p:sp>
      <p:sp>
        <p:nvSpPr>
          <p:cNvPr id="15" name="Text 13">
            <a:extLst>
              <a:ext uri="{FF2B5EF4-FFF2-40B4-BE49-F238E27FC236}">
                <a16:creationId xmlns:a16="http://schemas.microsoft.com/office/drawing/2014/main" id="{FF8E1E5C-B301-988B-BB36-0B3A361FD15D}"/>
              </a:ext>
            </a:extLst>
          </p:cNvPr>
          <p:cNvSpPr txBox="1"/>
          <p:nvPr/>
        </p:nvSpPr>
        <p:spPr>
          <a:xfrm>
            <a:off x="6583680" y="2468880"/>
            <a:ext cx="5029200" cy="640080"/>
          </a:xfrm>
          <a:prstGeom prst="rect">
            <a:avLst/>
          </a:prstGeom>
          <a:noFill/>
          <a:ln/>
        </p:spPr>
        <p:txBody>
          <a:bodyPr wrap="square" lIns="0" tIns="0" rIns="0" bIns="0" rtlCol="0" anchor="ctr"/>
          <a:lstStyle/>
          <a:p>
            <a:pPr marL="0" indent="0" algn="l">
              <a:buNone/>
            </a:pPr>
            <a:r>
              <a:rPr lang="en-US" sz="3000" b="1" dirty="0">
                <a:solidFill>
                  <a:srgbClr val="201449"/>
                </a:solidFill>
                <a:latin typeface="Calibri" pitchFamily="34" charset="0"/>
                <a:ea typeface="Calibri" pitchFamily="34" charset="-122"/>
                <a:cs typeface="Calibri" pitchFamily="34" charset="-120"/>
              </a:rPr>
              <a:t>10 OWASP/CWE-mapped vulnerability classes</a:t>
            </a:r>
            <a:endParaRPr lang="en-US" sz="3000" dirty="0"/>
          </a:p>
        </p:txBody>
      </p:sp>
      <p:sp>
        <p:nvSpPr>
          <p:cNvPr id="16" name="Text 14">
            <a:extLst>
              <a:ext uri="{FF2B5EF4-FFF2-40B4-BE49-F238E27FC236}">
                <a16:creationId xmlns:a16="http://schemas.microsoft.com/office/drawing/2014/main" id="{96F1D4F3-E516-792D-C666-24AA1B4340DC}"/>
              </a:ext>
            </a:extLst>
          </p:cNvPr>
          <p:cNvSpPr txBox="1"/>
          <p:nvPr/>
        </p:nvSpPr>
        <p:spPr>
          <a:xfrm>
            <a:off x="6583680" y="3136392"/>
            <a:ext cx="5029200" cy="365760"/>
          </a:xfrm>
          <a:prstGeom prst="rect">
            <a:avLst/>
          </a:prstGeom>
          <a:noFill/>
          <a:ln/>
        </p:spPr>
        <p:txBody>
          <a:bodyPr wrap="square" lIns="0" tIns="0" rIns="0" bIns="0" rtlCol="0" anchor="ctr"/>
          <a:lstStyle/>
          <a:p>
            <a:pPr marL="0" indent="0" algn="l">
              <a:buNone/>
            </a:pPr>
            <a:r>
              <a:rPr lang="en-US" sz="1200" dirty="0">
                <a:solidFill>
                  <a:srgbClr val="6E6B7A"/>
                </a:solidFill>
                <a:latin typeface="Calibri" pitchFamily="34" charset="0"/>
                <a:ea typeface="Calibri" pitchFamily="34" charset="-122"/>
                <a:cs typeface="Calibri" pitchFamily="34" charset="-120"/>
              </a:rPr>
              <a:t>Enforced at build time</a:t>
            </a:r>
            <a:endParaRPr lang="en-US" sz="1200" dirty="0"/>
          </a:p>
        </p:txBody>
      </p:sp>
      <p:sp>
        <p:nvSpPr>
          <p:cNvPr id="17" name="Shape 15">
            <a:extLst>
              <a:ext uri="{FF2B5EF4-FFF2-40B4-BE49-F238E27FC236}">
                <a16:creationId xmlns:a16="http://schemas.microsoft.com/office/drawing/2014/main" id="{33A34235-6CDF-CB85-BC26-A1401A175C8A}"/>
              </a:ext>
            </a:extLst>
          </p:cNvPr>
          <p:cNvSpPr/>
          <p:nvPr/>
        </p:nvSpPr>
        <p:spPr>
          <a:xfrm>
            <a:off x="548640" y="3931920"/>
            <a:ext cx="5577840" cy="1691640"/>
          </a:xfrm>
          <a:prstGeom prst="roundRect">
            <a:avLst>
              <a:gd name="adj" fmla="val 6486"/>
            </a:avLst>
          </a:prstGeom>
          <a:solidFill>
            <a:srgbClr val="F3F0FB"/>
          </a:solidFill>
          <a:ln w="12700">
            <a:solidFill>
              <a:srgbClr val="E4DEF6"/>
            </a:solidFill>
            <a:prstDash val="solid"/>
          </a:ln>
        </p:spPr>
        <p:txBody>
          <a:bodyPr/>
          <a:lstStyle/>
          <a:p>
            <a:endParaRPr lang="en-US"/>
          </a:p>
        </p:txBody>
      </p:sp>
      <p:sp>
        <p:nvSpPr>
          <p:cNvPr id="18" name="Shape 16">
            <a:extLst>
              <a:ext uri="{FF2B5EF4-FFF2-40B4-BE49-F238E27FC236}">
                <a16:creationId xmlns:a16="http://schemas.microsoft.com/office/drawing/2014/main" id="{7184E7AB-6149-343D-9A61-D933759B79C1}"/>
              </a:ext>
            </a:extLst>
          </p:cNvPr>
          <p:cNvSpPr/>
          <p:nvPr/>
        </p:nvSpPr>
        <p:spPr>
          <a:xfrm>
            <a:off x="822960" y="4206240"/>
            <a:ext cx="201168" cy="128016"/>
          </a:xfrm>
          <a:prstGeom prst="rect">
            <a:avLst/>
          </a:prstGeom>
          <a:solidFill>
            <a:srgbClr val="F900A0"/>
          </a:solidFill>
          <a:ln/>
        </p:spPr>
        <p:txBody>
          <a:bodyPr/>
          <a:lstStyle/>
          <a:p>
            <a:endParaRPr lang="en-US"/>
          </a:p>
        </p:txBody>
      </p:sp>
      <p:sp>
        <p:nvSpPr>
          <p:cNvPr id="19" name="Text 17">
            <a:extLst>
              <a:ext uri="{FF2B5EF4-FFF2-40B4-BE49-F238E27FC236}">
                <a16:creationId xmlns:a16="http://schemas.microsoft.com/office/drawing/2014/main" id="{9AD4DA3B-C086-5DFC-5069-7B200F75390C}"/>
              </a:ext>
            </a:extLst>
          </p:cNvPr>
          <p:cNvSpPr txBox="1"/>
          <p:nvPr/>
        </p:nvSpPr>
        <p:spPr>
          <a:xfrm>
            <a:off x="1097280" y="4114800"/>
            <a:ext cx="4754880" cy="274320"/>
          </a:xfrm>
          <a:prstGeom prst="rect">
            <a:avLst/>
          </a:prstGeom>
          <a:noFill/>
          <a:ln/>
        </p:spPr>
        <p:txBody>
          <a:bodyPr wrap="square" lIns="0" tIns="0" rIns="0" bIns="0" rtlCol="0" anchor="ctr"/>
          <a:lstStyle/>
          <a:p>
            <a:pPr marL="0" indent="0" algn="l">
              <a:buNone/>
            </a:pPr>
            <a:r>
              <a:rPr lang="en-US" sz="1000" b="1" kern="0" spc="300" dirty="0">
                <a:solidFill>
                  <a:srgbClr val="201449"/>
                </a:solidFill>
                <a:latin typeface="Calibri" pitchFamily="34" charset="0"/>
                <a:ea typeface="Calibri" pitchFamily="34" charset="-122"/>
                <a:cs typeface="Calibri" pitchFamily="34" charset="-120"/>
              </a:rPr>
              <a:t>LICENSE</a:t>
            </a:r>
            <a:endParaRPr lang="en-US" sz="1000" dirty="0"/>
          </a:p>
        </p:txBody>
      </p:sp>
      <p:sp>
        <p:nvSpPr>
          <p:cNvPr id="20" name="Text 18">
            <a:extLst>
              <a:ext uri="{FF2B5EF4-FFF2-40B4-BE49-F238E27FC236}">
                <a16:creationId xmlns:a16="http://schemas.microsoft.com/office/drawing/2014/main" id="{7CBC5A4A-5E14-709C-3052-9955EB68572F}"/>
              </a:ext>
            </a:extLst>
          </p:cNvPr>
          <p:cNvSpPr txBox="1"/>
          <p:nvPr/>
        </p:nvSpPr>
        <p:spPr>
          <a:xfrm>
            <a:off x="822960" y="4434840"/>
            <a:ext cx="5029200" cy="640080"/>
          </a:xfrm>
          <a:prstGeom prst="rect">
            <a:avLst/>
          </a:prstGeom>
          <a:noFill/>
          <a:ln/>
        </p:spPr>
        <p:txBody>
          <a:bodyPr wrap="square" lIns="0" tIns="0" rIns="0" bIns="0" rtlCol="0" anchor="ctr"/>
          <a:lstStyle/>
          <a:p>
            <a:pPr marL="0" indent="0" algn="l">
              <a:buNone/>
            </a:pPr>
            <a:r>
              <a:rPr lang="en-US" sz="3000" b="1" dirty="0">
                <a:solidFill>
                  <a:srgbClr val="201449"/>
                </a:solidFill>
                <a:latin typeface="Calibri" pitchFamily="34" charset="0"/>
                <a:ea typeface="Calibri" pitchFamily="34" charset="-122"/>
                <a:cs typeface="Calibri" pitchFamily="34" charset="-120"/>
              </a:rPr>
              <a:t>MIT</a:t>
            </a:r>
            <a:endParaRPr lang="en-US" sz="3000" dirty="0"/>
          </a:p>
        </p:txBody>
      </p:sp>
      <p:sp>
        <p:nvSpPr>
          <p:cNvPr id="21" name="Text 19">
            <a:extLst>
              <a:ext uri="{FF2B5EF4-FFF2-40B4-BE49-F238E27FC236}">
                <a16:creationId xmlns:a16="http://schemas.microsoft.com/office/drawing/2014/main" id="{061428AA-5165-4872-FD13-56DBA49AAD38}"/>
              </a:ext>
            </a:extLst>
          </p:cNvPr>
          <p:cNvSpPr txBox="1"/>
          <p:nvPr/>
        </p:nvSpPr>
        <p:spPr>
          <a:xfrm>
            <a:off x="822960" y="5102352"/>
            <a:ext cx="5029200" cy="365760"/>
          </a:xfrm>
          <a:prstGeom prst="rect">
            <a:avLst/>
          </a:prstGeom>
          <a:noFill/>
          <a:ln/>
        </p:spPr>
        <p:txBody>
          <a:bodyPr wrap="square" lIns="0" tIns="0" rIns="0" bIns="0" rtlCol="0" anchor="ctr"/>
          <a:lstStyle/>
          <a:p>
            <a:pPr marL="0" indent="0" algn="l">
              <a:buNone/>
            </a:pPr>
            <a:r>
              <a:rPr lang="en-US" sz="1200" dirty="0">
                <a:solidFill>
                  <a:srgbClr val="6E6B7A"/>
                </a:solidFill>
                <a:latin typeface="Calibri" pitchFamily="34" charset="0"/>
                <a:ea typeface="Calibri" pitchFamily="34" charset="-122"/>
                <a:cs typeface="Calibri" pitchFamily="34" charset="-120"/>
              </a:rPr>
              <a:t>permissive, portfolio-friendly</a:t>
            </a:r>
            <a:endParaRPr lang="en-US" sz="1200" dirty="0"/>
          </a:p>
        </p:txBody>
      </p:sp>
      <p:sp>
        <p:nvSpPr>
          <p:cNvPr id="22" name="Shape 20">
            <a:extLst>
              <a:ext uri="{FF2B5EF4-FFF2-40B4-BE49-F238E27FC236}">
                <a16:creationId xmlns:a16="http://schemas.microsoft.com/office/drawing/2014/main" id="{3E3DD264-9ACE-395B-19BE-1837CB761121}"/>
              </a:ext>
            </a:extLst>
          </p:cNvPr>
          <p:cNvSpPr/>
          <p:nvPr/>
        </p:nvSpPr>
        <p:spPr>
          <a:xfrm>
            <a:off x="6309360" y="3931920"/>
            <a:ext cx="5577840" cy="1691640"/>
          </a:xfrm>
          <a:prstGeom prst="roundRect">
            <a:avLst>
              <a:gd name="adj" fmla="val 6486"/>
            </a:avLst>
          </a:prstGeom>
          <a:solidFill>
            <a:srgbClr val="F3F0FB"/>
          </a:solidFill>
          <a:ln w="12700">
            <a:solidFill>
              <a:srgbClr val="E4DEF6"/>
            </a:solidFill>
            <a:prstDash val="solid"/>
          </a:ln>
        </p:spPr>
        <p:txBody>
          <a:bodyPr/>
          <a:lstStyle/>
          <a:p>
            <a:endParaRPr lang="en-US"/>
          </a:p>
        </p:txBody>
      </p:sp>
      <p:sp>
        <p:nvSpPr>
          <p:cNvPr id="23" name="Shape 21">
            <a:extLst>
              <a:ext uri="{FF2B5EF4-FFF2-40B4-BE49-F238E27FC236}">
                <a16:creationId xmlns:a16="http://schemas.microsoft.com/office/drawing/2014/main" id="{EEE8B922-8F0E-A101-D7DE-DAAB67A5E23E}"/>
              </a:ext>
            </a:extLst>
          </p:cNvPr>
          <p:cNvSpPr/>
          <p:nvPr/>
        </p:nvSpPr>
        <p:spPr>
          <a:xfrm>
            <a:off x="6583680" y="4206240"/>
            <a:ext cx="201168" cy="128016"/>
          </a:xfrm>
          <a:prstGeom prst="rect">
            <a:avLst/>
          </a:prstGeom>
          <a:solidFill>
            <a:srgbClr val="F900A0"/>
          </a:solidFill>
          <a:ln/>
        </p:spPr>
        <p:txBody>
          <a:bodyPr/>
          <a:lstStyle/>
          <a:p>
            <a:endParaRPr lang="en-US"/>
          </a:p>
        </p:txBody>
      </p:sp>
      <p:sp>
        <p:nvSpPr>
          <p:cNvPr id="24" name="Text 22">
            <a:extLst>
              <a:ext uri="{FF2B5EF4-FFF2-40B4-BE49-F238E27FC236}">
                <a16:creationId xmlns:a16="http://schemas.microsoft.com/office/drawing/2014/main" id="{5507200A-3670-6E44-B761-E563BABD04C7}"/>
              </a:ext>
            </a:extLst>
          </p:cNvPr>
          <p:cNvSpPr txBox="1"/>
          <p:nvPr/>
        </p:nvSpPr>
        <p:spPr>
          <a:xfrm>
            <a:off x="6858000" y="4114800"/>
            <a:ext cx="4754880" cy="274320"/>
          </a:xfrm>
          <a:prstGeom prst="rect">
            <a:avLst/>
          </a:prstGeom>
          <a:noFill/>
          <a:ln/>
        </p:spPr>
        <p:txBody>
          <a:bodyPr wrap="square" lIns="0" tIns="0" rIns="0" bIns="0" rtlCol="0" anchor="ctr"/>
          <a:lstStyle/>
          <a:p>
            <a:pPr marL="0" indent="0" algn="l">
              <a:buNone/>
            </a:pPr>
            <a:r>
              <a:rPr lang="en-US" sz="1000" b="1" kern="0" spc="300" dirty="0">
                <a:solidFill>
                  <a:srgbClr val="201449"/>
                </a:solidFill>
                <a:latin typeface="Calibri" pitchFamily="34" charset="0"/>
                <a:ea typeface="Calibri" pitchFamily="34" charset="-122"/>
                <a:cs typeface="Calibri" pitchFamily="34" charset="-120"/>
              </a:rPr>
              <a:t>DISTRIBUTION</a:t>
            </a:r>
            <a:endParaRPr lang="en-US" sz="1000" dirty="0"/>
          </a:p>
        </p:txBody>
      </p:sp>
      <p:sp>
        <p:nvSpPr>
          <p:cNvPr id="25" name="Text 23">
            <a:extLst>
              <a:ext uri="{FF2B5EF4-FFF2-40B4-BE49-F238E27FC236}">
                <a16:creationId xmlns:a16="http://schemas.microsoft.com/office/drawing/2014/main" id="{4D823AAE-94DA-0525-DE49-2D2B1A45D918}"/>
              </a:ext>
            </a:extLst>
          </p:cNvPr>
          <p:cNvSpPr txBox="1"/>
          <p:nvPr/>
        </p:nvSpPr>
        <p:spPr>
          <a:xfrm>
            <a:off x="6583680" y="4434840"/>
            <a:ext cx="5029200" cy="640080"/>
          </a:xfrm>
          <a:prstGeom prst="rect">
            <a:avLst/>
          </a:prstGeom>
          <a:noFill/>
          <a:ln/>
        </p:spPr>
        <p:txBody>
          <a:bodyPr wrap="square" lIns="0" tIns="0" rIns="0" bIns="0" rtlCol="0" anchor="ctr"/>
          <a:lstStyle/>
          <a:p>
            <a:pPr marL="0" indent="0" algn="l">
              <a:buNone/>
            </a:pPr>
            <a:r>
              <a:rPr lang="en-US" sz="3000" b="1" dirty="0">
                <a:solidFill>
                  <a:srgbClr val="201449"/>
                </a:solidFill>
                <a:latin typeface="Calibri" pitchFamily="34" charset="0"/>
                <a:ea typeface="Calibri" pitchFamily="34" charset="-122"/>
                <a:cs typeface="Calibri" pitchFamily="34" charset="-120"/>
              </a:rPr>
              <a:t>Maven Central</a:t>
            </a:r>
            <a:endParaRPr lang="en-US" sz="3000" dirty="0"/>
          </a:p>
        </p:txBody>
      </p:sp>
      <p:sp>
        <p:nvSpPr>
          <p:cNvPr id="26" name="Text 24">
            <a:extLst>
              <a:ext uri="{FF2B5EF4-FFF2-40B4-BE49-F238E27FC236}">
                <a16:creationId xmlns:a16="http://schemas.microsoft.com/office/drawing/2014/main" id="{8DEFCEDA-9A0A-2FCE-BBED-C26E6B97B6DF}"/>
              </a:ext>
            </a:extLst>
          </p:cNvPr>
          <p:cNvSpPr txBox="1"/>
          <p:nvPr/>
        </p:nvSpPr>
        <p:spPr>
          <a:xfrm>
            <a:off x="6583680" y="5102352"/>
            <a:ext cx="5029200" cy="365760"/>
          </a:xfrm>
          <a:prstGeom prst="rect">
            <a:avLst/>
          </a:prstGeom>
          <a:noFill/>
          <a:ln/>
        </p:spPr>
        <p:txBody>
          <a:bodyPr wrap="square" lIns="0" tIns="0" rIns="0" bIns="0" rtlCol="0" anchor="ctr"/>
          <a:lstStyle/>
          <a:p>
            <a:pPr marL="0" indent="0" algn="l">
              <a:buNone/>
            </a:pPr>
            <a:r>
              <a:rPr lang="en-US" sz="1200" dirty="0">
                <a:solidFill>
                  <a:srgbClr val="6E6B7A"/>
                </a:solidFill>
                <a:latin typeface="Calibri" pitchFamily="34" charset="0"/>
                <a:ea typeface="Calibri" pitchFamily="34" charset="-122"/>
                <a:cs typeface="Calibri" pitchFamily="34" charset="-120"/>
              </a:rPr>
              <a:t>+ Gradle Plugin Portal</a:t>
            </a:r>
            <a:endParaRPr lang="en-US" sz="1200" dirty="0"/>
          </a:p>
        </p:txBody>
      </p:sp>
    </p:spTree>
    <p:extLst>
      <p:ext uri="{BB962C8B-B14F-4D97-AF65-F5344CB8AC3E}">
        <p14:creationId xmlns:p14="http://schemas.microsoft.com/office/powerpoint/2010/main" val="2563960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LANGUAGE</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Why Kotlin?</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6" name="Text 4"/>
          <p:cNvSpPr txBox="1"/>
          <p:nvPr/>
        </p:nvSpPr>
        <p:spPr>
          <a:xfrm>
            <a:off x="7985455" y="6492240"/>
            <a:ext cx="3657600" cy="228600"/>
          </a:xfrm>
          <a:prstGeom prst="rect">
            <a:avLst/>
          </a:prstGeom>
          <a:noFill/>
          <a:ln/>
        </p:spPr>
        <p:txBody>
          <a:bodyPr wrap="square" lIns="0" tIns="0" rIns="0" bIns="0" rtlCol="0" anchor="ctr"/>
          <a:lstStyle/>
          <a:p>
            <a:pPr marL="0" indent="0" algn="r">
              <a:buNone/>
            </a:pPr>
            <a:r>
              <a:rPr lang="en-US" sz="900" dirty="0">
                <a:solidFill>
                  <a:srgbClr val="6E6B7A"/>
                </a:solidFill>
                <a:latin typeface="Calibri" pitchFamily="34" charset="0"/>
                <a:ea typeface="Calibri" pitchFamily="34" charset="-122"/>
                <a:cs typeface="Calibri" pitchFamily="34" charset="-120"/>
              </a:rPr>
              <a:t>ziltonportfolio.io</a:t>
            </a:r>
            <a:endParaRPr lang="en-US" sz="900" dirty="0"/>
          </a:p>
        </p:txBody>
      </p:sp>
      <p:sp>
        <p:nvSpPr>
          <p:cNvPr id="7" name="Shape 5"/>
          <p:cNvSpPr/>
          <p:nvPr/>
        </p:nvSpPr>
        <p:spPr>
          <a:xfrm>
            <a:off x="548640" y="1874520"/>
            <a:ext cx="3520440" cy="3931920"/>
          </a:xfrm>
          <a:prstGeom prst="roundRect">
            <a:avLst>
              <a:gd name="adj" fmla="val 3117"/>
            </a:avLst>
          </a:prstGeom>
          <a:solidFill>
            <a:srgbClr val="201449"/>
          </a:solidFill>
          <a:ln w="12700">
            <a:solidFill>
              <a:srgbClr val="201449"/>
            </a:solidFill>
            <a:prstDash val="solid"/>
          </a:ln>
        </p:spPr>
        <p:txBody>
          <a:bodyPr/>
          <a:lstStyle/>
          <a:p>
            <a:endParaRPr lang="en-US"/>
          </a:p>
        </p:txBody>
      </p:sp>
      <p:sp>
        <p:nvSpPr>
          <p:cNvPr id="8" name="Text 6"/>
          <p:cNvSpPr txBox="1"/>
          <p:nvPr/>
        </p:nvSpPr>
        <p:spPr>
          <a:xfrm>
            <a:off x="822960" y="2148840"/>
            <a:ext cx="297180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Kotlin</a:t>
            </a:r>
            <a:endParaRPr lang="en-US" sz="3600" dirty="0"/>
          </a:p>
        </p:txBody>
      </p:sp>
      <p:sp>
        <p:nvSpPr>
          <p:cNvPr id="9" name="Text 7"/>
          <p:cNvSpPr txBox="1"/>
          <p:nvPr/>
        </p:nvSpPr>
        <p:spPr>
          <a:xfrm>
            <a:off x="822960" y="3017520"/>
            <a:ext cx="2971800" cy="228600"/>
          </a:xfrm>
          <a:prstGeom prst="rect">
            <a:avLst/>
          </a:prstGeom>
          <a:noFill/>
          <a:ln/>
        </p:spPr>
        <p:txBody>
          <a:bodyPr wrap="square" lIns="0" tIns="0" rIns="0" bIns="0" rtlCol="0" anchor="ctr"/>
          <a:lstStyle/>
          <a:p>
            <a:pPr marL="0" indent="0" algn="l">
              <a:buNone/>
            </a:pPr>
            <a:r>
              <a:rPr lang="en-US" sz="900" b="1" kern="0" spc="300" dirty="0">
                <a:solidFill>
                  <a:srgbClr val="F900A0"/>
                </a:solidFill>
                <a:latin typeface="Calibri" pitchFamily="34" charset="0"/>
                <a:ea typeface="Calibri" pitchFamily="34" charset="-122"/>
                <a:cs typeface="Calibri" pitchFamily="34" charset="-120"/>
              </a:rPr>
              <a:t>MECHANISM</a:t>
            </a:r>
            <a:endParaRPr lang="en-US" sz="900" dirty="0"/>
          </a:p>
        </p:txBody>
      </p:sp>
      <p:sp>
        <p:nvSpPr>
          <p:cNvPr id="10" name="Text 8"/>
          <p:cNvSpPr txBox="1"/>
          <p:nvPr/>
        </p:nvSpPr>
        <p:spPr>
          <a:xfrm>
            <a:off x="822960" y="3246120"/>
            <a:ext cx="297180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K2 / FIR checker API</a:t>
            </a:r>
            <a:endParaRPr lang="en-US" sz="1600" dirty="0"/>
          </a:p>
        </p:txBody>
      </p:sp>
      <p:sp>
        <p:nvSpPr>
          <p:cNvPr id="11" name="Text 9"/>
          <p:cNvSpPr txBox="1"/>
          <p:nvPr/>
        </p:nvSpPr>
        <p:spPr>
          <a:xfrm>
            <a:off x="822960" y="3840480"/>
            <a:ext cx="2971800" cy="228600"/>
          </a:xfrm>
          <a:prstGeom prst="rect">
            <a:avLst/>
          </a:prstGeom>
          <a:noFill/>
          <a:ln/>
        </p:spPr>
        <p:txBody>
          <a:bodyPr wrap="square" lIns="0" tIns="0" rIns="0" bIns="0" rtlCol="0" anchor="ctr"/>
          <a:lstStyle/>
          <a:p>
            <a:pPr marL="0" indent="0" algn="l">
              <a:buNone/>
            </a:pPr>
            <a:r>
              <a:rPr lang="en-US" sz="900" b="1" kern="0" spc="300" dirty="0">
                <a:solidFill>
                  <a:srgbClr val="F900A0"/>
                </a:solidFill>
                <a:latin typeface="Calibri" pitchFamily="34" charset="0"/>
                <a:ea typeface="Calibri" pitchFamily="34" charset="-122"/>
                <a:cs typeface="Calibri" pitchFamily="34" charset="-120"/>
              </a:rPr>
              <a:t>AVAILABILITY</a:t>
            </a:r>
            <a:endParaRPr lang="en-US" sz="900" dirty="0"/>
          </a:p>
        </p:txBody>
      </p:sp>
      <p:sp>
        <p:nvSpPr>
          <p:cNvPr id="12" name="Text 10"/>
          <p:cNvSpPr txBox="1"/>
          <p:nvPr/>
        </p:nvSpPr>
        <p:spPr>
          <a:xfrm>
            <a:off x="822960" y="4069080"/>
            <a:ext cx="297180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New in Kotlin 2.0</a:t>
            </a:r>
            <a:endParaRPr lang="en-US" sz="1400" dirty="0"/>
          </a:p>
        </p:txBody>
      </p:sp>
      <p:sp>
        <p:nvSpPr>
          <p:cNvPr id="13" name="Text 11"/>
          <p:cNvSpPr txBox="1"/>
          <p:nvPr/>
        </p:nvSpPr>
        <p:spPr>
          <a:xfrm>
            <a:off x="822960" y="4754880"/>
            <a:ext cx="2971800" cy="960120"/>
          </a:xfrm>
          <a:prstGeom prst="rect">
            <a:avLst/>
          </a:prstGeom>
          <a:noFill/>
          <a:ln/>
        </p:spPr>
        <p:txBody>
          <a:bodyPr wrap="square" lIns="0" tIns="0" rIns="0" bIns="0" rtlCol="0" anchor="t"/>
          <a:lstStyle/>
          <a:p>
            <a:pPr marL="0" indent="0" algn="l">
              <a:buNone/>
            </a:pPr>
            <a:r>
              <a:rPr lang="en-US" sz="1200" dirty="0">
                <a:solidFill>
                  <a:srgbClr val="E4DEF6"/>
                </a:solidFill>
                <a:latin typeface="Calibri" pitchFamily="34" charset="0"/>
                <a:ea typeface="Calibri" pitchFamily="34" charset="-122"/>
                <a:cs typeface="Calibri" pitchFamily="34" charset="-120"/>
              </a:rPr>
              <a:t>What compile-sast is built on. First-class compiler plugin surface.</a:t>
            </a:r>
            <a:endParaRPr lang="en-US" sz="1200" dirty="0"/>
          </a:p>
        </p:txBody>
      </p:sp>
      <p:sp>
        <p:nvSpPr>
          <p:cNvPr id="14" name="Shape 12"/>
          <p:cNvSpPr/>
          <p:nvPr/>
        </p:nvSpPr>
        <p:spPr>
          <a:xfrm>
            <a:off x="4343400" y="1874520"/>
            <a:ext cx="3520440" cy="3931920"/>
          </a:xfrm>
          <a:prstGeom prst="roundRect">
            <a:avLst>
              <a:gd name="adj" fmla="val 3117"/>
            </a:avLst>
          </a:prstGeom>
          <a:solidFill>
            <a:srgbClr val="F3F0FB"/>
          </a:solidFill>
          <a:ln w="12700">
            <a:solidFill>
              <a:srgbClr val="E4DEF6"/>
            </a:solidFill>
            <a:prstDash val="solid"/>
          </a:ln>
        </p:spPr>
        <p:txBody>
          <a:bodyPr/>
          <a:lstStyle/>
          <a:p>
            <a:endParaRPr lang="en-US"/>
          </a:p>
        </p:txBody>
      </p:sp>
      <p:sp>
        <p:nvSpPr>
          <p:cNvPr id="15" name="Text 13"/>
          <p:cNvSpPr txBox="1"/>
          <p:nvPr/>
        </p:nvSpPr>
        <p:spPr>
          <a:xfrm>
            <a:off x="4617720" y="2148840"/>
            <a:ext cx="2971800" cy="731520"/>
          </a:xfrm>
          <a:prstGeom prst="rect">
            <a:avLst/>
          </a:prstGeom>
          <a:noFill/>
          <a:ln/>
        </p:spPr>
        <p:txBody>
          <a:bodyPr wrap="square" lIns="0" tIns="0" rIns="0" bIns="0" rtlCol="0" anchor="ctr"/>
          <a:lstStyle/>
          <a:p>
            <a:pPr marL="0" indent="0" algn="l">
              <a:buNone/>
            </a:pPr>
            <a:r>
              <a:rPr lang="en-US" sz="3600" b="1" dirty="0">
                <a:solidFill>
                  <a:srgbClr val="201449"/>
                </a:solidFill>
                <a:latin typeface="Calibri" pitchFamily="34" charset="0"/>
                <a:ea typeface="Calibri" pitchFamily="34" charset="-122"/>
                <a:cs typeface="Calibri" pitchFamily="34" charset="-120"/>
              </a:rPr>
              <a:t>C#</a:t>
            </a:r>
            <a:endParaRPr lang="en-US" sz="3600" dirty="0"/>
          </a:p>
        </p:txBody>
      </p:sp>
      <p:sp>
        <p:nvSpPr>
          <p:cNvPr id="16" name="Text 14"/>
          <p:cNvSpPr txBox="1"/>
          <p:nvPr/>
        </p:nvSpPr>
        <p:spPr>
          <a:xfrm>
            <a:off x="4617720" y="3017520"/>
            <a:ext cx="2971800" cy="228600"/>
          </a:xfrm>
          <a:prstGeom prst="rect">
            <a:avLst/>
          </a:prstGeom>
          <a:noFill/>
          <a:ln/>
        </p:spPr>
        <p:txBody>
          <a:bodyPr wrap="square" lIns="0" tIns="0" rIns="0" bIns="0" rtlCol="0" anchor="ctr"/>
          <a:lstStyle/>
          <a:p>
            <a:pPr marL="0" indent="0" algn="l">
              <a:buNone/>
            </a:pPr>
            <a:r>
              <a:rPr lang="en-US" sz="900" b="1" kern="0" spc="300" dirty="0">
                <a:solidFill>
                  <a:srgbClr val="F900A0"/>
                </a:solidFill>
                <a:latin typeface="Calibri" pitchFamily="34" charset="0"/>
                <a:ea typeface="Calibri" pitchFamily="34" charset="-122"/>
                <a:cs typeface="Calibri" pitchFamily="34" charset="-120"/>
              </a:rPr>
              <a:t>MECHANISM</a:t>
            </a:r>
            <a:endParaRPr lang="en-US" sz="900" dirty="0"/>
          </a:p>
        </p:txBody>
      </p:sp>
      <p:sp>
        <p:nvSpPr>
          <p:cNvPr id="17" name="Text 15"/>
          <p:cNvSpPr txBox="1"/>
          <p:nvPr/>
        </p:nvSpPr>
        <p:spPr>
          <a:xfrm>
            <a:off x="4617720" y="3246120"/>
            <a:ext cx="2971800" cy="411480"/>
          </a:xfrm>
          <a:prstGeom prst="rect">
            <a:avLst/>
          </a:prstGeom>
          <a:noFill/>
          <a:ln/>
        </p:spPr>
        <p:txBody>
          <a:bodyPr wrap="square" lIns="0" tIns="0" rIns="0" bIns="0" rtlCol="0" anchor="ctr"/>
          <a:lstStyle/>
          <a:p>
            <a:pPr marL="0" indent="0" algn="l">
              <a:buNone/>
            </a:pPr>
            <a:r>
              <a:rPr lang="en-US" sz="1600" b="1" dirty="0">
                <a:solidFill>
                  <a:srgbClr val="201449"/>
                </a:solidFill>
                <a:latin typeface="Calibri" pitchFamily="34" charset="0"/>
                <a:ea typeface="Calibri" pitchFamily="34" charset="-122"/>
                <a:cs typeface="Calibri" pitchFamily="34" charset="-120"/>
              </a:rPr>
              <a:t>Roslyn analyzers</a:t>
            </a:r>
            <a:endParaRPr lang="en-US" sz="1600" dirty="0"/>
          </a:p>
        </p:txBody>
      </p:sp>
      <p:sp>
        <p:nvSpPr>
          <p:cNvPr id="18" name="Text 16"/>
          <p:cNvSpPr txBox="1"/>
          <p:nvPr/>
        </p:nvSpPr>
        <p:spPr>
          <a:xfrm>
            <a:off x="4617720" y="3840480"/>
            <a:ext cx="2971800" cy="228600"/>
          </a:xfrm>
          <a:prstGeom prst="rect">
            <a:avLst/>
          </a:prstGeom>
          <a:noFill/>
          <a:ln/>
        </p:spPr>
        <p:txBody>
          <a:bodyPr wrap="square" lIns="0" tIns="0" rIns="0" bIns="0" rtlCol="0" anchor="ctr"/>
          <a:lstStyle/>
          <a:p>
            <a:pPr marL="0" indent="0" algn="l">
              <a:buNone/>
            </a:pPr>
            <a:r>
              <a:rPr lang="en-US" sz="900" b="1" kern="0" spc="300" dirty="0">
                <a:solidFill>
                  <a:srgbClr val="F900A0"/>
                </a:solidFill>
                <a:latin typeface="Calibri" pitchFamily="34" charset="0"/>
                <a:ea typeface="Calibri" pitchFamily="34" charset="-122"/>
                <a:cs typeface="Calibri" pitchFamily="34" charset="-120"/>
              </a:rPr>
              <a:t>AVAILABILITY</a:t>
            </a:r>
            <a:endParaRPr lang="en-US" sz="900" dirty="0"/>
          </a:p>
        </p:txBody>
      </p:sp>
      <p:sp>
        <p:nvSpPr>
          <p:cNvPr id="19" name="Text 17"/>
          <p:cNvSpPr txBox="1"/>
          <p:nvPr/>
        </p:nvSpPr>
        <p:spPr>
          <a:xfrm>
            <a:off x="4617720" y="4069080"/>
            <a:ext cx="2971800" cy="411480"/>
          </a:xfrm>
          <a:prstGeom prst="rect">
            <a:avLst/>
          </a:prstGeom>
          <a:noFill/>
          <a:ln/>
        </p:spPr>
        <p:txBody>
          <a:bodyPr wrap="square" lIns="0" tIns="0" rIns="0" bIns="0" rtlCol="0" anchor="ctr"/>
          <a:lstStyle/>
          <a:p>
            <a:pPr marL="0" indent="0" algn="l">
              <a:buNone/>
            </a:pPr>
            <a:r>
              <a:rPr lang="en-US" sz="1400" b="1" dirty="0">
                <a:solidFill>
                  <a:srgbClr val="201449"/>
                </a:solidFill>
                <a:latin typeface="Calibri" pitchFamily="34" charset="0"/>
                <a:ea typeface="Calibri" pitchFamily="34" charset="-122"/>
                <a:cs typeface="Calibri" pitchFamily="34" charset="-120"/>
              </a:rPr>
              <a:t>Standard since ‘15</a:t>
            </a:r>
            <a:endParaRPr lang="en-US" sz="1400" dirty="0"/>
          </a:p>
        </p:txBody>
      </p:sp>
      <p:sp>
        <p:nvSpPr>
          <p:cNvPr id="20" name="Text 18"/>
          <p:cNvSpPr txBox="1"/>
          <p:nvPr/>
        </p:nvSpPr>
        <p:spPr>
          <a:xfrm>
            <a:off x="4617720" y="4754880"/>
            <a:ext cx="2971800" cy="960120"/>
          </a:xfrm>
          <a:prstGeom prst="rect">
            <a:avLst/>
          </a:prstGeom>
          <a:noFill/>
          <a:ln/>
        </p:spPr>
        <p:txBody>
          <a:bodyPr wrap="square" lIns="0" tIns="0" rIns="0" bIns="0" rtlCol="0" anchor="t"/>
          <a:lstStyle/>
          <a:p>
            <a:pPr marL="0" indent="0" algn="l">
              <a:buNone/>
            </a:pPr>
            <a:r>
              <a:rPr lang="en-US" sz="1200" dirty="0">
                <a:solidFill>
                  <a:srgbClr val="201449"/>
                </a:solidFill>
                <a:latin typeface="Calibri" pitchFamily="34" charset="0"/>
                <a:ea typeface="Calibri" pitchFamily="34" charset="-122"/>
                <a:cs typeface="Calibri" pitchFamily="34" charset="-120"/>
              </a:rPr>
              <a:t>.NET has done this for a decade. The template is proven.</a:t>
            </a:r>
            <a:endParaRPr lang="en-US" sz="1200" dirty="0"/>
          </a:p>
        </p:txBody>
      </p:sp>
      <p:sp>
        <p:nvSpPr>
          <p:cNvPr id="21" name="Shape 19"/>
          <p:cNvSpPr/>
          <p:nvPr/>
        </p:nvSpPr>
        <p:spPr>
          <a:xfrm>
            <a:off x="8138160" y="1874520"/>
            <a:ext cx="3520440" cy="3931920"/>
          </a:xfrm>
          <a:prstGeom prst="roundRect">
            <a:avLst>
              <a:gd name="adj" fmla="val 3117"/>
            </a:avLst>
          </a:prstGeom>
          <a:solidFill>
            <a:srgbClr val="F3F0FB"/>
          </a:solidFill>
          <a:ln w="12700">
            <a:solidFill>
              <a:srgbClr val="E4DEF6"/>
            </a:solidFill>
            <a:prstDash val="solid"/>
          </a:ln>
        </p:spPr>
        <p:txBody>
          <a:bodyPr/>
          <a:lstStyle/>
          <a:p>
            <a:endParaRPr lang="en-US"/>
          </a:p>
        </p:txBody>
      </p:sp>
      <p:sp>
        <p:nvSpPr>
          <p:cNvPr id="22" name="Text 20"/>
          <p:cNvSpPr txBox="1"/>
          <p:nvPr/>
        </p:nvSpPr>
        <p:spPr>
          <a:xfrm>
            <a:off x="8412480" y="2148840"/>
            <a:ext cx="2971800" cy="731520"/>
          </a:xfrm>
          <a:prstGeom prst="rect">
            <a:avLst/>
          </a:prstGeom>
          <a:noFill/>
          <a:ln/>
        </p:spPr>
        <p:txBody>
          <a:bodyPr wrap="square" lIns="0" tIns="0" rIns="0" bIns="0" rtlCol="0" anchor="ctr"/>
          <a:lstStyle/>
          <a:p>
            <a:pPr marL="0" indent="0" algn="l">
              <a:buNone/>
            </a:pPr>
            <a:r>
              <a:rPr lang="en-US" sz="3600" b="1" dirty="0">
                <a:solidFill>
                  <a:srgbClr val="201449"/>
                </a:solidFill>
                <a:latin typeface="Calibri" pitchFamily="34" charset="0"/>
                <a:ea typeface="Calibri" pitchFamily="34" charset="-122"/>
                <a:cs typeface="Calibri" pitchFamily="34" charset="-120"/>
              </a:rPr>
              <a:t>Go</a:t>
            </a:r>
            <a:endParaRPr lang="en-US" sz="3600" dirty="0"/>
          </a:p>
        </p:txBody>
      </p:sp>
      <p:sp>
        <p:nvSpPr>
          <p:cNvPr id="23" name="Text 21"/>
          <p:cNvSpPr txBox="1"/>
          <p:nvPr/>
        </p:nvSpPr>
        <p:spPr>
          <a:xfrm>
            <a:off x="8412480" y="3017520"/>
            <a:ext cx="2971800" cy="228600"/>
          </a:xfrm>
          <a:prstGeom prst="rect">
            <a:avLst/>
          </a:prstGeom>
          <a:noFill/>
          <a:ln/>
        </p:spPr>
        <p:txBody>
          <a:bodyPr wrap="square" lIns="0" tIns="0" rIns="0" bIns="0" rtlCol="0" anchor="ctr"/>
          <a:lstStyle/>
          <a:p>
            <a:pPr marL="0" indent="0" algn="l">
              <a:buNone/>
            </a:pPr>
            <a:r>
              <a:rPr lang="en-US" sz="900" b="1" kern="0" spc="300" dirty="0">
                <a:solidFill>
                  <a:srgbClr val="F900A0"/>
                </a:solidFill>
                <a:latin typeface="Calibri" pitchFamily="34" charset="0"/>
                <a:ea typeface="Calibri" pitchFamily="34" charset="-122"/>
                <a:cs typeface="Calibri" pitchFamily="34" charset="-120"/>
              </a:rPr>
              <a:t>MECHANISM</a:t>
            </a:r>
            <a:endParaRPr lang="en-US" sz="900" dirty="0"/>
          </a:p>
        </p:txBody>
      </p:sp>
      <p:sp>
        <p:nvSpPr>
          <p:cNvPr id="24" name="Text 22"/>
          <p:cNvSpPr txBox="1"/>
          <p:nvPr/>
        </p:nvSpPr>
        <p:spPr>
          <a:xfrm>
            <a:off x="8412480" y="3246120"/>
            <a:ext cx="2971800" cy="411480"/>
          </a:xfrm>
          <a:prstGeom prst="rect">
            <a:avLst/>
          </a:prstGeom>
          <a:noFill/>
          <a:ln/>
        </p:spPr>
        <p:txBody>
          <a:bodyPr wrap="square" lIns="0" tIns="0" rIns="0" bIns="0" rtlCol="0" anchor="ctr"/>
          <a:lstStyle/>
          <a:p>
            <a:pPr marL="0" indent="0" algn="l">
              <a:buNone/>
            </a:pPr>
            <a:r>
              <a:rPr lang="en-US" sz="1600" b="1" dirty="0">
                <a:solidFill>
                  <a:srgbClr val="201449"/>
                </a:solidFill>
                <a:latin typeface="Calibri" pitchFamily="34" charset="0"/>
                <a:ea typeface="Calibri" pitchFamily="34" charset="-122"/>
                <a:cs typeface="Calibri" pitchFamily="34" charset="-120"/>
              </a:rPr>
              <a:t>Out-of-compiler</a:t>
            </a:r>
            <a:endParaRPr lang="en-US" sz="1600" dirty="0"/>
          </a:p>
        </p:txBody>
      </p:sp>
      <p:sp>
        <p:nvSpPr>
          <p:cNvPr id="25" name="Text 23"/>
          <p:cNvSpPr txBox="1"/>
          <p:nvPr/>
        </p:nvSpPr>
        <p:spPr>
          <a:xfrm>
            <a:off x="8412480" y="3840480"/>
            <a:ext cx="2971800" cy="228600"/>
          </a:xfrm>
          <a:prstGeom prst="rect">
            <a:avLst/>
          </a:prstGeom>
          <a:noFill/>
          <a:ln/>
        </p:spPr>
        <p:txBody>
          <a:bodyPr wrap="square" lIns="0" tIns="0" rIns="0" bIns="0" rtlCol="0" anchor="ctr"/>
          <a:lstStyle/>
          <a:p>
            <a:pPr marL="0" indent="0" algn="l">
              <a:buNone/>
            </a:pPr>
            <a:r>
              <a:rPr lang="en-US" sz="900" b="1" kern="0" spc="300" dirty="0">
                <a:solidFill>
                  <a:srgbClr val="F900A0"/>
                </a:solidFill>
                <a:latin typeface="Calibri" pitchFamily="34" charset="0"/>
                <a:ea typeface="Calibri" pitchFamily="34" charset="-122"/>
                <a:cs typeface="Calibri" pitchFamily="34" charset="-120"/>
              </a:rPr>
              <a:t>AVAILABILITY</a:t>
            </a:r>
            <a:endParaRPr lang="en-US" sz="900" dirty="0"/>
          </a:p>
        </p:txBody>
      </p:sp>
      <p:sp>
        <p:nvSpPr>
          <p:cNvPr id="26" name="Text 24"/>
          <p:cNvSpPr txBox="1"/>
          <p:nvPr/>
        </p:nvSpPr>
        <p:spPr>
          <a:xfrm>
            <a:off x="8412480" y="4069080"/>
            <a:ext cx="2971800" cy="411480"/>
          </a:xfrm>
          <a:prstGeom prst="rect">
            <a:avLst/>
          </a:prstGeom>
          <a:noFill/>
          <a:ln/>
        </p:spPr>
        <p:txBody>
          <a:bodyPr wrap="square" lIns="0" tIns="0" rIns="0" bIns="0" rtlCol="0" anchor="ctr"/>
          <a:lstStyle/>
          <a:p>
            <a:pPr marL="0" indent="0" algn="l">
              <a:buNone/>
            </a:pPr>
            <a:r>
              <a:rPr lang="en-US" sz="1400" b="1" dirty="0">
                <a:solidFill>
                  <a:srgbClr val="201449"/>
                </a:solidFill>
                <a:latin typeface="Calibri" pitchFamily="34" charset="0"/>
                <a:ea typeface="Calibri" pitchFamily="34" charset="-122"/>
                <a:cs typeface="Calibri" pitchFamily="34" charset="-120"/>
              </a:rPr>
              <a:t>staticcheck, gosec, golangci-lint</a:t>
            </a:r>
            <a:endParaRPr lang="en-US" sz="1400" dirty="0"/>
          </a:p>
        </p:txBody>
      </p:sp>
      <p:sp>
        <p:nvSpPr>
          <p:cNvPr id="27" name="Text 25"/>
          <p:cNvSpPr txBox="1"/>
          <p:nvPr/>
        </p:nvSpPr>
        <p:spPr>
          <a:xfrm>
            <a:off x="8412480" y="4754880"/>
            <a:ext cx="2971800" cy="960120"/>
          </a:xfrm>
          <a:prstGeom prst="rect">
            <a:avLst/>
          </a:prstGeom>
          <a:noFill/>
          <a:ln/>
        </p:spPr>
        <p:txBody>
          <a:bodyPr wrap="square" lIns="0" tIns="0" rIns="0" bIns="0" rtlCol="0" anchor="t"/>
          <a:lstStyle/>
          <a:p>
            <a:pPr marL="0" indent="0" algn="l">
              <a:buNone/>
            </a:pPr>
            <a:r>
              <a:rPr lang="en-US" sz="1200" dirty="0">
                <a:solidFill>
                  <a:srgbClr val="201449"/>
                </a:solidFill>
                <a:latin typeface="Calibri" pitchFamily="34" charset="0"/>
                <a:ea typeface="Calibri" pitchFamily="34" charset="-122"/>
                <a:cs typeface="Calibri" pitchFamily="34" charset="-120"/>
              </a:rPr>
              <a:t>Different model: analysis runs alongside the build, not inside it.</a:t>
            </a:r>
            <a:endParaRPr lang="en-US" sz="1200" dirty="0"/>
          </a:p>
        </p:txBody>
      </p:sp>
      <p:sp>
        <p:nvSpPr>
          <p:cNvPr id="28" name="Text 26"/>
          <p:cNvSpPr txBox="1"/>
          <p:nvPr/>
        </p:nvSpPr>
        <p:spPr>
          <a:xfrm>
            <a:off x="548640" y="5989320"/>
            <a:ext cx="11094415" cy="365760"/>
          </a:xfrm>
          <a:prstGeom prst="rect">
            <a:avLst/>
          </a:prstGeom>
          <a:noFill/>
          <a:ln/>
        </p:spPr>
        <p:txBody>
          <a:bodyPr wrap="square" lIns="0" tIns="0" rIns="0" bIns="0" rtlCol="0" anchor="ctr"/>
          <a:lstStyle/>
          <a:p>
            <a:pPr marL="0" indent="0" algn="l">
              <a:buNone/>
            </a:pPr>
            <a:r>
              <a:rPr lang="en-US" sz="1400" dirty="0">
                <a:solidFill>
                  <a:srgbClr val="201449"/>
                </a:solidFill>
                <a:latin typeface="Calibri" pitchFamily="34" charset="0"/>
                <a:ea typeface="Calibri" pitchFamily="34" charset="-122"/>
                <a:cs typeface="Calibri" pitchFamily="34" charset="-120"/>
              </a:rPr>
              <a:t>C# had this. Go’s ecosystem chose a different model. Kotlin K2 finally opened the door,</a:t>
            </a:r>
            <a:r>
              <a:rPr lang="en-US" sz="1400" i="1" dirty="0">
                <a:solidFill>
                  <a:srgbClr val="201449"/>
                </a:solidFill>
                <a:latin typeface="Calibri" pitchFamily="34" charset="0"/>
                <a:ea typeface="Calibri" pitchFamily="34" charset="-122"/>
                <a:cs typeface="Calibri" pitchFamily="34" charset="-120"/>
              </a:rPr>
              <a:t> and I’ve written in Kotlin for two years.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ARCHITECTURE</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How it plugs in:</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7" name="Shape 5"/>
          <p:cNvSpPr/>
          <p:nvPr/>
        </p:nvSpPr>
        <p:spPr>
          <a:xfrm>
            <a:off x="822960" y="2743200"/>
            <a:ext cx="2926080" cy="2011680"/>
          </a:xfrm>
          <a:prstGeom prst="roundRect">
            <a:avLst>
              <a:gd name="adj" fmla="val 6818"/>
            </a:avLst>
          </a:prstGeom>
          <a:solidFill>
            <a:srgbClr val="F3F0FB"/>
          </a:solidFill>
          <a:ln w="12700">
            <a:solidFill>
              <a:srgbClr val="E4DEF6"/>
            </a:solidFill>
            <a:prstDash val="solid"/>
          </a:ln>
        </p:spPr>
        <p:txBody>
          <a:bodyPr/>
          <a:lstStyle/>
          <a:p>
            <a:endParaRPr lang="en-US"/>
          </a:p>
        </p:txBody>
      </p:sp>
      <p:sp>
        <p:nvSpPr>
          <p:cNvPr id="8" name="Text 6"/>
          <p:cNvSpPr txBox="1"/>
          <p:nvPr/>
        </p:nvSpPr>
        <p:spPr>
          <a:xfrm>
            <a:off x="1051560" y="3017520"/>
            <a:ext cx="2560320" cy="64008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Kotlin source</a:t>
            </a:r>
            <a:endParaRPr lang="en-US" sz="2000" dirty="0"/>
          </a:p>
        </p:txBody>
      </p:sp>
      <p:sp>
        <p:nvSpPr>
          <p:cNvPr id="9" name="Text 7"/>
          <p:cNvSpPr txBox="1"/>
          <p:nvPr/>
        </p:nvSpPr>
        <p:spPr>
          <a:xfrm>
            <a:off x="1051560" y="3657600"/>
            <a:ext cx="2560320" cy="548640"/>
          </a:xfrm>
          <a:prstGeom prst="rect">
            <a:avLst/>
          </a:prstGeom>
          <a:noFill/>
          <a:ln/>
        </p:spPr>
        <p:txBody>
          <a:bodyPr wrap="square" lIns="0" tIns="0" rIns="0" bIns="0" rtlCol="0" anchor="ctr"/>
          <a:lstStyle/>
          <a:p>
            <a:pPr marL="0" indent="0" algn="l">
              <a:buNone/>
            </a:pPr>
            <a:r>
              <a:rPr lang="en-US" sz="1300" dirty="0">
                <a:solidFill>
                  <a:srgbClr val="6E6B7A"/>
                </a:solidFill>
                <a:latin typeface="Calibri" pitchFamily="34" charset="0"/>
                <a:ea typeface="Calibri" pitchFamily="34" charset="-122"/>
                <a:cs typeface="Calibri" pitchFamily="34" charset="-120"/>
              </a:rPr>
              <a:t>your code</a:t>
            </a:r>
            <a:endParaRPr lang="en-US" sz="1300" dirty="0"/>
          </a:p>
        </p:txBody>
      </p:sp>
      <p:sp>
        <p:nvSpPr>
          <p:cNvPr id="10" name="Shape 8"/>
          <p:cNvSpPr/>
          <p:nvPr/>
        </p:nvSpPr>
        <p:spPr>
          <a:xfrm>
            <a:off x="3154680" y="4206240"/>
            <a:ext cx="457200" cy="457200"/>
          </a:xfrm>
          <a:prstGeom prst="ellipse">
            <a:avLst/>
          </a:prstGeom>
          <a:solidFill>
            <a:srgbClr val="F900A0"/>
          </a:solidFill>
          <a:ln/>
        </p:spPr>
        <p:txBody>
          <a:bodyPr/>
          <a:lstStyle/>
          <a:p>
            <a:endParaRPr lang="en-US"/>
          </a:p>
        </p:txBody>
      </p:sp>
      <p:sp>
        <p:nvSpPr>
          <p:cNvPr id="11" name="Text 9"/>
          <p:cNvSpPr txBox="1"/>
          <p:nvPr/>
        </p:nvSpPr>
        <p:spPr>
          <a:xfrm>
            <a:off x="3154680" y="42062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2" name="Shape 10"/>
          <p:cNvSpPr/>
          <p:nvPr/>
        </p:nvSpPr>
        <p:spPr>
          <a:xfrm>
            <a:off x="4846320" y="2743200"/>
            <a:ext cx="2926080" cy="2011680"/>
          </a:xfrm>
          <a:prstGeom prst="roundRect">
            <a:avLst>
              <a:gd name="adj" fmla="val 6818"/>
            </a:avLst>
          </a:prstGeom>
          <a:solidFill>
            <a:srgbClr val="201449"/>
          </a:solidFill>
          <a:ln w="12700">
            <a:solidFill>
              <a:srgbClr val="201449"/>
            </a:solidFill>
            <a:prstDash val="solid"/>
          </a:ln>
        </p:spPr>
        <p:txBody>
          <a:bodyPr/>
          <a:lstStyle/>
          <a:p>
            <a:endParaRPr lang="en-US"/>
          </a:p>
        </p:txBody>
      </p:sp>
      <p:sp>
        <p:nvSpPr>
          <p:cNvPr id="13" name="Text 11"/>
          <p:cNvSpPr txBox="1"/>
          <p:nvPr/>
        </p:nvSpPr>
        <p:spPr>
          <a:xfrm>
            <a:off x="5074920" y="3017520"/>
            <a:ext cx="2560320" cy="64008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K2 / FIR checker</a:t>
            </a:r>
            <a:endParaRPr lang="en-US" sz="2000" dirty="0"/>
          </a:p>
        </p:txBody>
      </p:sp>
      <p:sp>
        <p:nvSpPr>
          <p:cNvPr id="14" name="Text 12"/>
          <p:cNvSpPr txBox="1"/>
          <p:nvPr/>
        </p:nvSpPr>
        <p:spPr>
          <a:xfrm>
            <a:off x="5074920" y="3657600"/>
            <a:ext cx="2560320" cy="548640"/>
          </a:xfrm>
          <a:prstGeom prst="rect">
            <a:avLst/>
          </a:prstGeom>
          <a:noFill/>
          <a:ln/>
        </p:spPr>
        <p:txBody>
          <a:bodyPr wrap="square" lIns="0" tIns="0" rIns="0" bIns="0" rtlCol="0" anchor="ctr"/>
          <a:lstStyle/>
          <a:p>
            <a:pPr marL="0" indent="0" algn="l">
              <a:buNone/>
            </a:pPr>
            <a:r>
              <a:rPr lang="en-US" sz="1300" dirty="0">
                <a:solidFill>
                  <a:srgbClr val="E4DEF6"/>
                </a:solidFill>
                <a:latin typeface="Calibri" pitchFamily="34" charset="0"/>
                <a:ea typeface="Calibri" pitchFamily="34" charset="-122"/>
                <a:cs typeface="Calibri" pitchFamily="34" charset="-120"/>
              </a:rPr>
              <a:t>compile-sast rules</a:t>
            </a:r>
            <a:endParaRPr lang="en-US" sz="1300" dirty="0"/>
          </a:p>
        </p:txBody>
      </p:sp>
      <p:sp>
        <p:nvSpPr>
          <p:cNvPr id="15" name="Shape 13"/>
          <p:cNvSpPr/>
          <p:nvPr/>
        </p:nvSpPr>
        <p:spPr>
          <a:xfrm>
            <a:off x="7178040" y="4206240"/>
            <a:ext cx="457200" cy="457200"/>
          </a:xfrm>
          <a:prstGeom prst="ellipse">
            <a:avLst/>
          </a:prstGeom>
          <a:solidFill>
            <a:srgbClr val="F900A0"/>
          </a:solidFill>
          <a:ln/>
        </p:spPr>
        <p:txBody>
          <a:bodyPr/>
          <a:lstStyle/>
          <a:p>
            <a:endParaRPr lang="en-US"/>
          </a:p>
        </p:txBody>
      </p:sp>
      <p:sp>
        <p:nvSpPr>
          <p:cNvPr id="16" name="Text 14"/>
          <p:cNvSpPr txBox="1"/>
          <p:nvPr/>
        </p:nvSpPr>
        <p:spPr>
          <a:xfrm>
            <a:off x="7178040" y="42062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7" name="Shape 15"/>
          <p:cNvSpPr/>
          <p:nvPr/>
        </p:nvSpPr>
        <p:spPr>
          <a:xfrm>
            <a:off x="8869680" y="2743200"/>
            <a:ext cx="2926080" cy="2011680"/>
          </a:xfrm>
          <a:prstGeom prst="roundRect">
            <a:avLst>
              <a:gd name="adj" fmla="val 6818"/>
            </a:avLst>
          </a:prstGeom>
          <a:solidFill>
            <a:srgbClr val="F3F0FB"/>
          </a:solidFill>
          <a:ln w="12700">
            <a:solidFill>
              <a:srgbClr val="E4DEF6"/>
            </a:solidFill>
            <a:prstDash val="solid"/>
          </a:ln>
        </p:spPr>
        <p:txBody>
          <a:bodyPr/>
          <a:lstStyle/>
          <a:p>
            <a:endParaRPr lang="en-US"/>
          </a:p>
        </p:txBody>
      </p:sp>
      <p:sp>
        <p:nvSpPr>
          <p:cNvPr id="18" name="Text 16"/>
          <p:cNvSpPr txBox="1"/>
          <p:nvPr/>
        </p:nvSpPr>
        <p:spPr>
          <a:xfrm>
            <a:off x="9098280" y="3017520"/>
            <a:ext cx="2560320" cy="64008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Compiler diagnostic</a:t>
            </a:r>
            <a:endParaRPr lang="en-US" sz="2000" dirty="0"/>
          </a:p>
        </p:txBody>
      </p:sp>
      <p:sp>
        <p:nvSpPr>
          <p:cNvPr id="19" name="Text 17"/>
          <p:cNvSpPr txBox="1"/>
          <p:nvPr/>
        </p:nvSpPr>
        <p:spPr>
          <a:xfrm>
            <a:off x="9098280" y="3657600"/>
            <a:ext cx="2560320" cy="548640"/>
          </a:xfrm>
          <a:prstGeom prst="rect">
            <a:avLst/>
          </a:prstGeom>
          <a:noFill/>
          <a:ln/>
        </p:spPr>
        <p:txBody>
          <a:bodyPr wrap="square" lIns="0" tIns="0" rIns="0" bIns="0" rtlCol="0" anchor="ctr"/>
          <a:lstStyle/>
          <a:p>
            <a:pPr marL="0" indent="0" algn="l">
              <a:buNone/>
            </a:pPr>
            <a:r>
              <a:rPr lang="en-US" sz="1300" dirty="0">
                <a:solidFill>
                  <a:srgbClr val="6E6B7A"/>
                </a:solidFill>
                <a:latin typeface="Calibri" pitchFamily="34" charset="0"/>
                <a:ea typeface="Calibri" pitchFamily="34" charset="-122"/>
                <a:cs typeface="Calibri" pitchFamily="34" charset="-120"/>
              </a:rPr>
              <a:t>build fails, IDE marks the line</a:t>
            </a:r>
            <a:endParaRPr lang="en-US" sz="1300" dirty="0"/>
          </a:p>
        </p:txBody>
      </p:sp>
      <p:sp>
        <p:nvSpPr>
          <p:cNvPr id="20" name="Shape 18"/>
          <p:cNvSpPr/>
          <p:nvPr/>
        </p:nvSpPr>
        <p:spPr>
          <a:xfrm>
            <a:off x="11201400" y="4206240"/>
            <a:ext cx="457200" cy="457200"/>
          </a:xfrm>
          <a:prstGeom prst="ellipse">
            <a:avLst/>
          </a:prstGeom>
          <a:solidFill>
            <a:srgbClr val="F900A0"/>
          </a:solidFill>
          <a:ln/>
        </p:spPr>
        <p:txBody>
          <a:bodyPr/>
          <a:lstStyle/>
          <a:p>
            <a:endParaRPr lang="en-US"/>
          </a:p>
        </p:txBody>
      </p:sp>
      <p:sp>
        <p:nvSpPr>
          <p:cNvPr id="21" name="Text 19"/>
          <p:cNvSpPr txBox="1"/>
          <p:nvPr/>
        </p:nvSpPr>
        <p:spPr>
          <a:xfrm>
            <a:off x="11201400" y="42062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2" name="Shape 20"/>
          <p:cNvSpPr/>
          <p:nvPr/>
        </p:nvSpPr>
        <p:spPr>
          <a:xfrm>
            <a:off x="3749040" y="3739896"/>
            <a:ext cx="1097280" cy="27432"/>
          </a:xfrm>
          <a:prstGeom prst="rect">
            <a:avLst/>
          </a:prstGeom>
          <a:solidFill>
            <a:srgbClr val="201449"/>
          </a:solidFill>
          <a:ln/>
        </p:spPr>
        <p:txBody>
          <a:bodyPr/>
          <a:lstStyle/>
          <a:p>
            <a:endParaRPr lang="en-US"/>
          </a:p>
        </p:txBody>
      </p:sp>
      <p:sp>
        <p:nvSpPr>
          <p:cNvPr id="23" name="Shape 21"/>
          <p:cNvSpPr/>
          <p:nvPr/>
        </p:nvSpPr>
        <p:spPr>
          <a:xfrm>
            <a:off x="4800600" y="3611880"/>
            <a:ext cx="274320" cy="274320"/>
          </a:xfrm>
          <a:prstGeom prst="chevron">
            <a:avLst/>
          </a:prstGeom>
          <a:solidFill>
            <a:srgbClr val="201449"/>
          </a:solidFill>
          <a:ln/>
        </p:spPr>
        <p:txBody>
          <a:bodyPr/>
          <a:lstStyle/>
          <a:p>
            <a:endParaRPr lang="en-US"/>
          </a:p>
        </p:txBody>
      </p:sp>
      <p:sp>
        <p:nvSpPr>
          <p:cNvPr id="24" name="Shape 22"/>
          <p:cNvSpPr/>
          <p:nvPr/>
        </p:nvSpPr>
        <p:spPr>
          <a:xfrm>
            <a:off x="7772400" y="3739896"/>
            <a:ext cx="1097280" cy="27432"/>
          </a:xfrm>
          <a:prstGeom prst="rect">
            <a:avLst/>
          </a:prstGeom>
          <a:solidFill>
            <a:srgbClr val="201449"/>
          </a:solidFill>
          <a:ln/>
        </p:spPr>
        <p:txBody>
          <a:bodyPr/>
          <a:lstStyle/>
          <a:p>
            <a:endParaRPr lang="en-US"/>
          </a:p>
        </p:txBody>
      </p:sp>
      <p:sp>
        <p:nvSpPr>
          <p:cNvPr id="25" name="Shape 23"/>
          <p:cNvSpPr/>
          <p:nvPr/>
        </p:nvSpPr>
        <p:spPr>
          <a:xfrm>
            <a:off x="8823960" y="3611880"/>
            <a:ext cx="274320" cy="274320"/>
          </a:xfrm>
          <a:prstGeom prst="chevron">
            <a:avLst/>
          </a:prstGeom>
          <a:solidFill>
            <a:srgbClr val="201449"/>
          </a:solidFill>
          <a:ln/>
        </p:spPr>
        <p:txBody>
          <a:bodyPr/>
          <a:lstStyle/>
          <a:p>
            <a:endParaRPr lang="en-US"/>
          </a:p>
        </p:txBody>
      </p:sp>
      <p:sp>
        <p:nvSpPr>
          <p:cNvPr id="26" name="Text 24"/>
          <p:cNvSpPr txBox="1"/>
          <p:nvPr/>
        </p:nvSpPr>
        <p:spPr>
          <a:xfrm>
            <a:off x="822960" y="5212080"/>
            <a:ext cx="10545775" cy="1005840"/>
          </a:xfrm>
          <a:prstGeom prst="rect">
            <a:avLst/>
          </a:prstGeom>
          <a:noFill/>
          <a:ln/>
        </p:spPr>
        <p:txBody>
          <a:bodyPr wrap="square" lIns="0" tIns="0" rIns="0" bIns="0" rtlCol="0" anchor="t"/>
          <a:lstStyle/>
          <a:p>
            <a:pPr marL="0" indent="0" algn="l">
              <a:buNone/>
            </a:pPr>
            <a:r>
              <a:rPr lang="en-US" sz="1500" b="1" dirty="0">
                <a:solidFill>
                  <a:srgbClr val="201449"/>
                </a:solidFill>
                <a:latin typeface="Calibri" pitchFamily="34" charset="0"/>
                <a:ea typeface="Calibri" pitchFamily="34" charset="-122"/>
                <a:cs typeface="Calibri" pitchFamily="34" charset="-120"/>
              </a:rPr>
              <a:t>Same phase as the type checker.</a:t>
            </a:r>
            <a:endParaRPr lang="en-US" sz="1500" dirty="0"/>
          </a:p>
          <a:p>
            <a:pPr marL="0" indent="0" algn="l">
              <a:buNone/>
            </a:pPr>
            <a:endParaRPr lang="en-US" sz="1500" dirty="0"/>
          </a:p>
          <a:p>
            <a:pPr marL="0" indent="0" algn="l">
              <a:buNone/>
            </a:pPr>
            <a:r>
              <a:rPr lang="en-US" sz="1300" dirty="0">
                <a:solidFill>
                  <a:srgbClr val="201449"/>
                </a:solidFill>
                <a:latin typeface="Calibri" pitchFamily="34" charset="0"/>
                <a:ea typeface="Calibri" pitchFamily="34" charset="-122"/>
                <a:cs typeface="Calibri" pitchFamily="34" charset="-120"/>
              </a:rPr>
              <a:t>The build fails. No new tool to install, no CI/CD step to wait on. The same feedback surface Kotlin developers already trust.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COVERAGE</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Ten classes, enforced at build time</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7" name="Shape 5"/>
          <p:cNvSpPr/>
          <p:nvPr/>
        </p:nvSpPr>
        <p:spPr>
          <a:xfrm>
            <a:off x="548640" y="1874520"/>
            <a:ext cx="5577840" cy="685800"/>
          </a:xfrm>
          <a:prstGeom prst="roundRect">
            <a:avLst>
              <a:gd name="adj" fmla="val 10667"/>
            </a:avLst>
          </a:prstGeom>
          <a:solidFill>
            <a:srgbClr val="F3F0FB"/>
          </a:solidFill>
          <a:ln w="12700">
            <a:solidFill>
              <a:srgbClr val="E4DEF6"/>
            </a:solidFill>
            <a:prstDash val="solid"/>
          </a:ln>
        </p:spPr>
        <p:txBody>
          <a:bodyPr/>
          <a:lstStyle/>
          <a:p>
            <a:endParaRPr lang="en-US"/>
          </a:p>
        </p:txBody>
      </p:sp>
      <p:sp>
        <p:nvSpPr>
          <p:cNvPr id="8" name="Text 6"/>
          <p:cNvSpPr txBox="1"/>
          <p:nvPr/>
        </p:nvSpPr>
        <p:spPr>
          <a:xfrm>
            <a:off x="777240" y="2075688"/>
            <a:ext cx="1188720" cy="320040"/>
          </a:xfrm>
          <a:prstGeom prst="rect">
            <a:avLst/>
          </a:prstGeom>
          <a:noFill/>
          <a:ln/>
        </p:spPr>
        <p:txBody>
          <a:bodyPr wrap="square" lIns="0" tIns="0" rIns="0" bIns="0" rtlCol="0" anchor="ctr"/>
          <a:lstStyle/>
          <a:p>
            <a:pPr marL="0" indent="0" algn="l">
              <a:buNone/>
            </a:pPr>
            <a:r>
              <a:rPr lang="en-US" sz="1200" b="1" dirty="0">
                <a:solidFill>
                  <a:srgbClr val="F900A0"/>
                </a:solidFill>
                <a:latin typeface="Courier New" pitchFamily="34" charset="0"/>
                <a:ea typeface="Courier New" pitchFamily="34" charset="-122"/>
                <a:cs typeface="Courier New" pitchFamily="34" charset="-120"/>
              </a:rPr>
              <a:t>CWE-798</a:t>
            </a:r>
            <a:endParaRPr lang="en-US" sz="1200" dirty="0"/>
          </a:p>
        </p:txBody>
      </p:sp>
      <p:sp>
        <p:nvSpPr>
          <p:cNvPr id="9" name="Text 7"/>
          <p:cNvSpPr txBox="1"/>
          <p:nvPr/>
        </p:nvSpPr>
        <p:spPr>
          <a:xfrm>
            <a:off x="1965960" y="2057400"/>
            <a:ext cx="4023360" cy="365760"/>
          </a:xfrm>
          <a:prstGeom prst="rect">
            <a:avLst/>
          </a:prstGeom>
          <a:noFill/>
          <a:ln/>
        </p:spPr>
        <p:txBody>
          <a:bodyPr wrap="square" lIns="0" tIns="0" rIns="0" bIns="0" rtlCol="0" anchor="ctr"/>
          <a:lstStyle/>
          <a:p>
            <a:pPr marL="0" indent="0" algn="l">
              <a:buNone/>
            </a:pPr>
            <a:r>
              <a:rPr lang="en-US" sz="1500" b="1" dirty="0">
                <a:solidFill>
                  <a:srgbClr val="201449"/>
                </a:solidFill>
                <a:latin typeface="Calibri" pitchFamily="34" charset="0"/>
                <a:ea typeface="Calibri" pitchFamily="34" charset="-122"/>
                <a:cs typeface="Calibri" pitchFamily="34" charset="-120"/>
              </a:rPr>
              <a:t>Hardcoded credentials</a:t>
            </a:r>
            <a:endParaRPr lang="en-US" sz="1500" dirty="0"/>
          </a:p>
        </p:txBody>
      </p:sp>
      <p:sp>
        <p:nvSpPr>
          <p:cNvPr id="10" name="Shape 8"/>
          <p:cNvSpPr/>
          <p:nvPr/>
        </p:nvSpPr>
        <p:spPr>
          <a:xfrm>
            <a:off x="6309360" y="1874520"/>
            <a:ext cx="5577840" cy="685800"/>
          </a:xfrm>
          <a:prstGeom prst="roundRect">
            <a:avLst>
              <a:gd name="adj" fmla="val 10667"/>
            </a:avLst>
          </a:prstGeom>
          <a:solidFill>
            <a:srgbClr val="F3F0FB"/>
          </a:solidFill>
          <a:ln w="12700">
            <a:solidFill>
              <a:srgbClr val="E4DEF6"/>
            </a:solidFill>
            <a:prstDash val="solid"/>
          </a:ln>
        </p:spPr>
        <p:txBody>
          <a:bodyPr/>
          <a:lstStyle/>
          <a:p>
            <a:endParaRPr lang="en-US"/>
          </a:p>
        </p:txBody>
      </p:sp>
      <p:sp>
        <p:nvSpPr>
          <p:cNvPr id="11" name="Text 9"/>
          <p:cNvSpPr txBox="1"/>
          <p:nvPr/>
        </p:nvSpPr>
        <p:spPr>
          <a:xfrm>
            <a:off x="6537960" y="2075688"/>
            <a:ext cx="1188720" cy="320040"/>
          </a:xfrm>
          <a:prstGeom prst="rect">
            <a:avLst/>
          </a:prstGeom>
          <a:noFill/>
          <a:ln/>
        </p:spPr>
        <p:txBody>
          <a:bodyPr wrap="square" lIns="0" tIns="0" rIns="0" bIns="0" rtlCol="0" anchor="ctr"/>
          <a:lstStyle/>
          <a:p>
            <a:pPr marL="0" indent="0" algn="l">
              <a:buNone/>
            </a:pPr>
            <a:r>
              <a:rPr lang="en-US" sz="1200" b="1" dirty="0">
                <a:solidFill>
                  <a:srgbClr val="F900A0"/>
                </a:solidFill>
                <a:latin typeface="Courier New" pitchFamily="34" charset="0"/>
                <a:ea typeface="Courier New" pitchFamily="34" charset="-122"/>
                <a:cs typeface="Courier New" pitchFamily="34" charset="-120"/>
              </a:rPr>
              <a:t>CWE-89</a:t>
            </a:r>
            <a:endParaRPr lang="en-US" sz="1200" dirty="0"/>
          </a:p>
        </p:txBody>
      </p:sp>
      <p:sp>
        <p:nvSpPr>
          <p:cNvPr id="12" name="Text 10"/>
          <p:cNvSpPr txBox="1"/>
          <p:nvPr/>
        </p:nvSpPr>
        <p:spPr>
          <a:xfrm>
            <a:off x="7726680" y="2057400"/>
            <a:ext cx="4023360" cy="365760"/>
          </a:xfrm>
          <a:prstGeom prst="rect">
            <a:avLst/>
          </a:prstGeom>
          <a:noFill/>
          <a:ln/>
        </p:spPr>
        <p:txBody>
          <a:bodyPr wrap="square" lIns="0" tIns="0" rIns="0" bIns="0" rtlCol="0" anchor="ctr"/>
          <a:lstStyle/>
          <a:p>
            <a:pPr marL="0" indent="0" algn="l">
              <a:buNone/>
            </a:pPr>
            <a:r>
              <a:rPr lang="en-US" sz="1500" b="1" dirty="0">
                <a:solidFill>
                  <a:srgbClr val="201449"/>
                </a:solidFill>
                <a:latin typeface="Calibri" pitchFamily="34" charset="0"/>
                <a:ea typeface="Calibri" pitchFamily="34" charset="-122"/>
                <a:cs typeface="Calibri" pitchFamily="34" charset="-120"/>
              </a:rPr>
              <a:t>SQL injection</a:t>
            </a:r>
            <a:endParaRPr lang="en-US" sz="1500" dirty="0"/>
          </a:p>
        </p:txBody>
      </p:sp>
      <p:sp>
        <p:nvSpPr>
          <p:cNvPr id="13" name="Shape 11"/>
          <p:cNvSpPr/>
          <p:nvPr/>
        </p:nvSpPr>
        <p:spPr>
          <a:xfrm>
            <a:off x="548640" y="2697480"/>
            <a:ext cx="5577840" cy="685800"/>
          </a:xfrm>
          <a:prstGeom prst="roundRect">
            <a:avLst>
              <a:gd name="adj" fmla="val 10667"/>
            </a:avLst>
          </a:prstGeom>
          <a:solidFill>
            <a:srgbClr val="F3F0FB"/>
          </a:solidFill>
          <a:ln w="12700">
            <a:solidFill>
              <a:srgbClr val="E4DEF6"/>
            </a:solidFill>
            <a:prstDash val="solid"/>
          </a:ln>
        </p:spPr>
        <p:txBody>
          <a:bodyPr/>
          <a:lstStyle/>
          <a:p>
            <a:endParaRPr lang="en-US"/>
          </a:p>
        </p:txBody>
      </p:sp>
      <p:sp>
        <p:nvSpPr>
          <p:cNvPr id="14" name="Text 12"/>
          <p:cNvSpPr txBox="1"/>
          <p:nvPr/>
        </p:nvSpPr>
        <p:spPr>
          <a:xfrm>
            <a:off x="777240" y="2898648"/>
            <a:ext cx="1188720" cy="320040"/>
          </a:xfrm>
          <a:prstGeom prst="rect">
            <a:avLst/>
          </a:prstGeom>
          <a:noFill/>
          <a:ln/>
        </p:spPr>
        <p:txBody>
          <a:bodyPr wrap="square" lIns="0" tIns="0" rIns="0" bIns="0" rtlCol="0" anchor="ctr"/>
          <a:lstStyle/>
          <a:p>
            <a:pPr marL="0" indent="0" algn="l">
              <a:buNone/>
            </a:pPr>
            <a:r>
              <a:rPr lang="en-US" sz="1200" b="1" dirty="0">
                <a:solidFill>
                  <a:srgbClr val="F900A0"/>
                </a:solidFill>
                <a:latin typeface="Courier New" pitchFamily="34" charset="0"/>
                <a:ea typeface="Courier New" pitchFamily="34" charset="-122"/>
                <a:cs typeface="Courier New" pitchFamily="34" charset="-120"/>
              </a:rPr>
              <a:t>CWE-78</a:t>
            </a:r>
            <a:endParaRPr lang="en-US" sz="1200" dirty="0"/>
          </a:p>
        </p:txBody>
      </p:sp>
      <p:sp>
        <p:nvSpPr>
          <p:cNvPr id="15" name="Text 13"/>
          <p:cNvSpPr txBox="1"/>
          <p:nvPr/>
        </p:nvSpPr>
        <p:spPr>
          <a:xfrm>
            <a:off x="1965960" y="2880360"/>
            <a:ext cx="4023360" cy="365760"/>
          </a:xfrm>
          <a:prstGeom prst="rect">
            <a:avLst/>
          </a:prstGeom>
          <a:noFill/>
          <a:ln/>
        </p:spPr>
        <p:txBody>
          <a:bodyPr wrap="square" lIns="0" tIns="0" rIns="0" bIns="0" rtlCol="0" anchor="ctr"/>
          <a:lstStyle/>
          <a:p>
            <a:pPr marL="0" indent="0" algn="l">
              <a:buNone/>
            </a:pPr>
            <a:r>
              <a:rPr lang="en-US" sz="1500" b="1" dirty="0">
                <a:solidFill>
                  <a:srgbClr val="201449"/>
                </a:solidFill>
                <a:latin typeface="Calibri" pitchFamily="34" charset="0"/>
                <a:ea typeface="Calibri" pitchFamily="34" charset="-122"/>
                <a:cs typeface="Calibri" pitchFamily="34" charset="-120"/>
              </a:rPr>
              <a:t>OS command injection</a:t>
            </a:r>
            <a:endParaRPr lang="en-US" sz="1500" dirty="0"/>
          </a:p>
        </p:txBody>
      </p:sp>
      <p:sp>
        <p:nvSpPr>
          <p:cNvPr id="16" name="Shape 14"/>
          <p:cNvSpPr/>
          <p:nvPr/>
        </p:nvSpPr>
        <p:spPr>
          <a:xfrm>
            <a:off x="6309360" y="2697480"/>
            <a:ext cx="5577840" cy="685800"/>
          </a:xfrm>
          <a:prstGeom prst="roundRect">
            <a:avLst>
              <a:gd name="adj" fmla="val 10667"/>
            </a:avLst>
          </a:prstGeom>
          <a:solidFill>
            <a:srgbClr val="F3F0FB"/>
          </a:solidFill>
          <a:ln w="12700">
            <a:solidFill>
              <a:srgbClr val="E4DEF6"/>
            </a:solidFill>
            <a:prstDash val="solid"/>
          </a:ln>
        </p:spPr>
        <p:txBody>
          <a:bodyPr/>
          <a:lstStyle/>
          <a:p>
            <a:endParaRPr lang="en-US"/>
          </a:p>
        </p:txBody>
      </p:sp>
      <p:sp>
        <p:nvSpPr>
          <p:cNvPr id="17" name="Text 15"/>
          <p:cNvSpPr txBox="1"/>
          <p:nvPr/>
        </p:nvSpPr>
        <p:spPr>
          <a:xfrm>
            <a:off x="6537960" y="2898648"/>
            <a:ext cx="1188720" cy="320040"/>
          </a:xfrm>
          <a:prstGeom prst="rect">
            <a:avLst/>
          </a:prstGeom>
          <a:noFill/>
          <a:ln/>
        </p:spPr>
        <p:txBody>
          <a:bodyPr wrap="square" lIns="0" tIns="0" rIns="0" bIns="0" rtlCol="0" anchor="ctr"/>
          <a:lstStyle/>
          <a:p>
            <a:pPr marL="0" indent="0" algn="l">
              <a:buNone/>
            </a:pPr>
            <a:r>
              <a:rPr lang="en-US" sz="1200" b="1" dirty="0">
                <a:solidFill>
                  <a:srgbClr val="F900A0"/>
                </a:solidFill>
                <a:latin typeface="Courier New" pitchFamily="34" charset="0"/>
                <a:ea typeface="Courier New" pitchFamily="34" charset="-122"/>
                <a:cs typeface="Courier New" pitchFamily="34" charset="-120"/>
              </a:rPr>
              <a:t>CWE-22</a:t>
            </a:r>
            <a:endParaRPr lang="en-US" sz="1200" dirty="0"/>
          </a:p>
        </p:txBody>
      </p:sp>
      <p:sp>
        <p:nvSpPr>
          <p:cNvPr id="18" name="Text 16"/>
          <p:cNvSpPr txBox="1"/>
          <p:nvPr/>
        </p:nvSpPr>
        <p:spPr>
          <a:xfrm>
            <a:off x="7726680" y="2880360"/>
            <a:ext cx="4023360" cy="365760"/>
          </a:xfrm>
          <a:prstGeom prst="rect">
            <a:avLst/>
          </a:prstGeom>
          <a:noFill/>
          <a:ln/>
        </p:spPr>
        <p:txBody>
          <a:bodyPr wrap="square" lIns="0" tIns="0" rIns="0" bIns="0" rtlCol="0" anchor="ctr"/>
          <a:lstStyle/>
          <a:p>
            <a:pPr marL="0" indent="0" algn="l">
              <a:buNone/>
            </a:pPr>
            <a:r>
              <a:rPr lang="en-US" sz="1500" b="1" dirty="0">
                <a:solidFill>
                  <a:srgbClr val="201449"/>
                </a:solidFill>
                <a:latin typeface="Calibri" pitchFamily="34" charset="0"/>
                <a:ea typeface="Calibri" pitchFamily="34" charset="-122"/>
                <a:cs typeface="Calibri" pitchFamily="34" charset="-120"/>
              </a:rPr>
              <a:t>Path traversal</a:t>
            </a:r>
            <a:endParaRPr lang="en-US" sz="1500" dirty="0"/>
          </a:p>
        </p:txBody>
      </p:sp>
      <p:sp>
        <p:nvSpPr>
          <p:cNvPr id="19" name="Shape 17"/>
          <p:cNvSpPr/>
          <p:nvPr/>
        </p:nvSpPr>
        <p:spPr>
          <a:xfrm>
            <a:off x="548640" y="3520440"/>
            <a:ext cx="5577840" cy="685800"/>
          </a:xfrm>
          <a:prstGeom prst="roundRect">
            <a:avLst>
              <a:gd name="adj" fmla="val 10667"/>
            </a:avLst>
          </a:prstGeom>
          <a:solidFill>
            <a:srgbClr val="F3F0FB"/>
          </a:solidFill>
          <a:ln w="12700">
            <a:solidFill>
              <a:srgbClr val="E4DEF6"/>
            </a:solidFill>
            <a:prstDash val="solid"/>
          </a:ln>
        </p:spPr>
        <p:txBody>
          <a:bodyPr/>
          <a:lstStyle/>
          <a:p>
            <a:endParaRPr lang="en-US"/>
          </a:p>
        </p:txBody>
      </p:sp>
      <p:sp>
        <p:nvSpPr>
          <p:cNvPr id="20" name="Text 18"/>
          <p:cNvSpPr txBox="1"/>
          <p:nvPr/>
        </p:nvSpPr>
        <p:spPr>
          <a:xfrm>
            <a:off x="777240" y="3721608"/>
            <a:ext cx="1188720" cy="320040"/>
          </a:xfrm>
          <a:prstGeom prst="rect">
            <a:avLst/>
          </a:prstGeom>
          <a:noFill/>
          <a:ln/>
        </p:spPr>
        <p:txBody>
          <a:bodyPr wrap="square" lIns="0" tIns="0" rIns="0" bIns="0" rtlCol="0" anchor="ctr"/>
          <a:lstStyle/>
          <a:p>
            <a:pPr marL="0" indent="0" algn="l">
              <a:buNone/>
            </a:pPr>
            <a:r>
              <a:rPr lang="en-US" sz="1200" b="1" dirty="0">
                <a:solidFill>
                  <a:srgbClr val="F900A0"/>
                </a:solidFill>
                <a:latin typeface="Courier New" pitchFamily="34" charset="0"/>
                <a:ea typeface="Courier New" pitchFamily="34" charset="-122"/>
                <a:cs typeface="Courier New" pitchFamily="34" charset="-120"/>
              </a:rPr>
              <a:t>CWE-327</a:t>
            </a:r>
            <a:endParaRPr lang="en-US" sz="1200" dirty="0"/>
          </a:p>
        </p:txBody>
      </p:sp>
      <p:sp>
        <p:nvSpPr>
          <p:cNvPr id="21" name="Text 19"/>
          <p:cNvSpPr txBox="1"/>
          <p:nvPr/>
        </p:nvSpPr>
        <p:spPr>
          <a:xfrm>
            <a:off x="1965960" y="3703320"/>
            <a:ext cx="4023360" cy="365760"/>
          </a:xfrm>
          <a:prstGeom prst="rect">
            <a:avLst/>
          </a:prstGeom>
          <a:noFill/>
          <a:ln/>
        </p:spPr>
        <p:txBody>
          <a:bodyPr wrap="square" lIns="0" tIns="0" rIns="0" bIns="0" rtlCol="0" anchor="ctr"/>
          <a:lstStyle/>
          <a:p>
            <a:pPr marL="0" indent="0" algn="l">
              <a:buNone/>
            </a:pPr>
            <a:r>
              <a:rPr lang="en-US" sz="1500" b="1" dirty="0">
                <a:solidFill>
                  <a:srgbClr val="201449"/>
                </a:solidFill>
                <a:latin typeface="Calibri" pitchFamily="34" charset="0"/>
                <a:ea typeface="Calibri" pitchFamily="34" charset="-122"/>
                <a:cs typeface="Calibri" pitchFamily="34" charset="-120"/>
              </a:rPr>
              <a:t>Weak cryptographic algorithm</a:t>
            </a:r>
            <a:endParaRPr lang="en-US" sz="1500" dirty="0"/>
          </a:p>
        </p:txBody>
      </p:sp>
      <p:sp>
        <p:nvSpPr>
          <p:cNvPr id="22" name="Shape 20"/>
          <p:cNvSpPr/>
          <p:nvPr/>
        </p:nvSpPr>
        <p:spPr>
          <a:xfrm>
            <a:off x="6309360" y="3520440"/>
            <a:ext cx="5577840" cy="685800"/>
          </a:xfrm>
          <a:prstGeom prst="roundRect">
            <a:avLst>
              <a:gd name="adj" fmla="val 10667"/>
            </a:avLst>
          </a:prstGeom>
          <a:solidFill>
            <a:srgbClr val="F3F0FB"/>
          </a:solidFill>
          <a:ln w="12700">
            <a:solidFill>
              <a:srgbClr val="E4DEF6"/>
            </a:solidFill>
            <a:prstDash val="solid"/>
          </a:ln>
        </p:spPr>
        <p:txBody>
          <a:bodyPr/>
          <a:lstStyle/>
          <a:p>
            <a:endParaRPr lang="en-US"/>
          </a:p>
        </p:txBody>
      </p:sp>
      <p:sp>
        <p:nvSpPr>
          <p:cNvPr id="23" name="Text 21"/>
          <p:cNvSpPr txBox="1"/>
          <p:nvPr/>
        </p:nvSpPr>
        <p:spPr>
          <a:xfrm>
            <a:off x="6537960" y="3721608"/>
            <a:ext cx="1188720" cy="320040"/>
          </a:xfrm>
          <a:prstGeom prst="rect">
            <a:avLst/>
          </a:prstGeom>
          <a:noFill/>
          <a:ln/>
        </p:spPr>
        <p:txBody>
          <a:bodyPr wrap="square" lIns="0" tIns="0" rIns="0" bIns="0" rtlCol="0" anchor="ctr"/>
          <a:lstStyle/>
          <a:p>
            <a:pPr marL="0" indent="0" algn="l">
              <a:buNone/>
            </a:pPr>
            <a:r>
              <a:rPr lang="en-US" sz="1200" b="1" dirty="0">
                <a:solidFill>
                  <a:srgbClr val="F900A0"/>
                </a:solidFill>
                <a:latin typeface="Courier New" pitchFamily="34" charset="0"/>
                <a:ea typeface="Courier New" pitchFamily="34" charset="-122"/>
                <a:cs typeface="Courier New" pitchFamily="34" charset="-120"/>
              </a:rPr>
              <a:t>CWE-338</a:t>
            </a:r>
            <a:endParaRPr lang="en-US" sz="1200" dirty="0"/>
          </a:p>
        </p:txBody>
      </p:sp>
      <p:sp>
        <p:nvSpPr>
          <p:cNvPr id="24" name="Text 22"/>
          <p:cNvSpPr txBox="1"/>
          <p:nvPr/>
        </p:nvSpPr>
        <p:spPr>
          <a:xfrm>
            <a:off x="7726680" y="3703320"/>
            <a:ext cx="4023360" cy="365760"/>
          </a:xfrm>
          <a:prstGeom prst="rect">
            <a:avLst/>
          </a:prstGeom>
          <a:noFill/>
          <a:ln/>
        </p:spPr>
        <p:txBody>
          <a:bodyPr wrap="square" lIns="0" tIns="0" rIns="0" bIns="0" rtlCol="0" anchor="ctr"/>
          <a:lstStyle/>
          <a:p>
            <a:pPr marL="0" indent="0" algn="l">
              <a:buNone/>
            </a:pPr>
            <a:r>
              <a:rPr lang="en-US" sz="1500" b="1" dirty="0">
                <a:solidFill>
                  <a:srgbClr val="201449"/>
                </a:solidFill>
                <a:latin typeface="Calibri" pitchFamily="34" charset="0"/>
                <a:ea typeface="Calibri" pitchFamily="34" charset="-122"/>
                <a:cs typeface="Calibri" pitchFamily="34" charset="-120"/>
              </a:rPr>
              <a:t>Insecure randomness</a:t>
            </a:r>
            <a:endParaRPr lang="en-US" sz="1500" dirty="0"/>
          </a:p>
        </p:txBody>
      </p:sp>
      <p:sp>
        <p:nvSpPr>
          <p:cNvPr id="25" name="Shape 23"/>
          <p:cNvSpPr/>
          <p:nvPr/>
        </p:nvSpPr>
        <p:spPr>
          <a:xfrm>
            <a:off x="548640" y="4343400"/>
            <a:ext cx="5577840" cy="685800"/>
          </a:xfrm>
          <a:prstGeom prst="roundRect">
            <a:avLst>
              <a:gd name="adj" fmla="val 10667"/>
            </a:avLst>
          </a:prstGeom>
          <a:solidFill>
            <a:srgbClr val="F3F0FB"/>
          </a:solidFill>
          <a:ln w="12700">
            <a:solidFill>
              <a:srgbClr val="E4DEF6"/>
            </a:solidFill>
            <a:prstDash val="solid"/>
          </a:ln>
        </p:spPr>
        <p:txBody>
          <a:bodyPr/>
          <a:lstStyle/>
          <a:p>
            <a:endParaRPr lang="en-US"/>
          </a:p>
        </p:txBody>
      </p:sp>
      <p:sp>
        <p:nvSpPr>
          <p:cNvPr id="26" name="Text 24"/>
          <p:cNvSpPr txBox="1"/>
          <p:nvPr/>
        </p:nvSpPr>
        <p:spPr>
          <a:xfrm>
            <a:off x="777240" y="4544568"/>
            <a:ext cx="1188720" cy="320040"/>
          </a:xfrm>
          <a:prstGeom prst="rect">
            <a:avLst/>
          </a:prstGeom>
          <a:noFill/>
          <a:ln/>
        </p:spPr>
        <p:txBody>
          <a:bodyPr wrap="square" lIns="0" tIns="0" rIns="0" bIns="0" rtlCol="0" anchor="ctr"/>
          <a:lstStyle/>
          <a:p>
            <a:pPr marL="0" indent="0" algn="l">
              <a:buNone/>
            </a:pPr>
            <a:r>
              <a:rPr lang="en-US" sz="1200" b="1" dirty="0">
                <a:solidFill>
                  <a:srgbClr val="F900A0"/>
                </a:solidFill>
                <a:latin typeface="Courier New" pitchFamily="34" charset="0"/>
                <a:ea typeface="Courier New" pitchFamily="34" charset="-122"/>
                <a:cs typeface="Courier New" pitchFamily="34" charset="-120"/>
              </a:rPr>
              <a:t>CWE-611</a:t>
            </a:r>
            <a:endParaRPr lang="en-US" sz="1200" dirty="0"/>
          </a:p>
        </p:txBody>
      </p:sp>
      <p:sp>
        <p:nvSpPr>
          <p:cNvPr id="27" name="Text 25"/>
          <p:cNvSpPr txBox="1"/>
          <p:nvPr/>
        </p:nvSpPr>
        <p:spPr>
          <a:xfrm>
            <a:off x="1965960" y="4526280"/>
            <a:ext cx="4023360" cy="365760"/>
          </a:xfrm>
          <a:prstGeom prst="rect">
            <a:avLst/>
          </a:prstGeom>
          <a:noFill/>
          <a:ln/>
        </p:spPr>
        <p:txBody>
          <a:bodyPr wrap="square" lIns="0" tIns="0" rIns="0" bIns="0" rtlCol="0" anchor="ctr"/>
          <a:lstStyle/>
          <a:p>
            <a:pPr marL="0" indent="0" algn="l">
              <a:buNone/>
            </a:pPr>
            <a:r>
              <a:rPr lang="en-US" sz="1500" b="1" dirty="0">
                <a:solidFill>
                  <a:srgbClr val="201449"/>
                </a:solidFill>
                <a:latin typeface="Calibri" pitchFamily="34" charset="0"/>
                <a:ea typeface="Calibri" pitchFamily="34" charset="-122"/>
                <a:cs typeface="Calibri" pitchFamily="34" charset="-120"/>
              </a:rPr>
              <a:t>XML external entities</a:t>
            </a:r>
            <a:endParaRPr lang="en-US" sz="1500" dirty="0"/>
          </a:p>
        </p:txBody>
      </p:sp>
      <p:sp>
        <p:nvSpPr>
          <p:cNvPr id="28" name="Shape 26"/>
          <p:cNvSpPr/>
          <p:nvPr/>
        </p:nvSpPr>
        <p:spPr>
          <a:xfrm>
            <a:off x="6309360" y="4343400"/>
            <a:ext cx="5577840" cy="685800"/>
          </a:xfrm>
          <a:prstGeom prst="roundRect">
            <a:avLst>
              <a:gd name="adj" fmla="val 10667"/>
            </a:avLst>
          </a:prstGeom>
          <a:solidFill>
            <a:srgbClr val="F3F0FB"/>
          </a:solidFill>
          <a:ln w="12700">
            <a:solidFill>
              <a:srgbClr val="E4DEF6"/>
            </a:solidFill>
            <a:prstDash val="solid"/>
          </a:ln>
        </p:spPr>
        <p:txBody>
          <a:bodyPr/>
          <a:lstStyle/>
          <a:p>
            <a:endParaRPr lang="en-US"/>
          </a:p>
        </p:txBody>
      </p:sp>
      <p:sp>
        <p:nvSpPr>
          <p:cNvPr id="29" name="Text 27"/>
          <p:cNvSpPr txBox="1"/>
          <p:nvPr/>
        </p:nvSpPr>
        <p:spPr>
          <a:xfrm>
            <a:off x="6537960" y="4544568"/>
            <a:ext cx="1188720" cy="320040"/>
          </a:xfrm>
          <a:prstGeom prst="rect">
            <a:avLst/>
          </a:prstGeom>
          <a:noFill/>
          <a:ln/>
        </p:spPr>
        <p:txBody>
          <a:bodyPr wrap="square" lIns="0" tIns="0" rIns="0" bIns="0" rtlCol="0" anchor="ctr"/>
          <a:lstStyle/>
          <a:p>
            <a:pPr marL="0" indent="0" algn="l">
              <a:buNone/>
            </a:pPr>
            <a:r>
              <a:rPr lang="en-US" sz="1200" b="1" dirty="0">
                <a:solidFill>
                  <a:srgbClr val="F900A0"/>
                </a:solidFill>
                <a:latin typeface="Courier New" pitchFamily="34" charset="0"/>
                <a:ea typeface="Courier New" pitchFamily="34" charset="-122"/>
                <a:cs typeface="Courier New" pitchFamily="34" charset="-120"/>
              </a:rPr>
              <a:t>CWE-502</a:t>
            </a:r>
            <a:endParaRPr lang="en-US" sz="1200" dirty="0"/>
          </a:p>
        </p:txBody>
      </p:sp>
      <p:sp>
        <p:nvSpPr>
          <p:cNvPr id="30" name="Text 28"/>
          <p:cNvSpPr txBox="1"/>
          <p:nvPr/>
        </p:nvSpPr>
        <p:spPr>
          <a:xfrm>
            <a:off x="7726680" y="4526280"/>
            <a:ext cx="4023360" cy="365760"/>
          </a:xfrm>
          <a:prstGeom prst="rect">
            <a:avLst/>
          </a:prstGeom>
          <a:noFill/>
          <a:ln/>
        </p:spPr>
        <p:txBody>
          <a:bodyPr wrap="square" lIns="0" tIns="0" rIns="0" bIns="0" rtlCol="0" anchor="ctr"/>
          <a:lstStyle/>
          <a:p>
            <a:pPr marL="0" indent="0" algn="l">
              <a:buNone/>
            </a:pPr>
            <a:r>
              <a:rPr lang="en-US" sz="1500" b="1" dirty="0">
                <a:solidFill>
                  <a:srgbClr val="201449"/>
                </a:solidFill>
                <a:latin typeface="Calibri" pitchFamily="34" charset="0"/>
                <a:ea typeface="Calibri" pitchFamily="34" charset="-122"/>
                <a:cs typeface="Calibri" pitchFamily="34" charset="-120"/>
              </a:rPr>
              <a:t>Insecure deserialization</a:t>
            </a:r>
            <a:endParaRPr lang="en-US" sz="1500" dirty="0"/>
          </a:p>
        </p:txBody>
      </p:sp>
      <p:sp>
        <p:nvSpPr>
          <p:cNvPr id="31" name="Shape 29"/>
          <p:cNvSpPr/>
          <p:nvPr/>
        </p:nvSpPr>
        <p:spPr>
          <a:xfrm>
            <a:off x="548640" y="5166360"/>
            <a:ext cx="5577840" cy="685800"/>
          </a:xfrm>
          <a:prstGeom prst="roundRect">
            <a:avLst>
              <a:gd name="adj" fmla="val 10667"/>
            </a:avLst>
          </a:prstGeom>
          <a:solidFill>
            <a:srgbClr val="F3F0FB"/>
          </a:solidFill>
          <a:ln w="12700">
            <a:solidFill>
              <a:srgbClr val="E4DEF6"/>
            </a:solidFill>
            <a:prstDash val="solid"/>
          </a:ln>
        </p:spPr>
        <p:txBody>
          <a:bodyPr/>
          <a:lstStyle/>
          <a:p>
            <a:endParaRPr lang="en-US"/>
          </a:p>
        </p:txBody>
      </p:sp>
      <p:sp>
        <p:nvSpPr>
          <p:cNvPr id="32" name="Text 30"/>
          <p:cNvSpPr txBox="1"/>
          <p:nvPr/>
        </p:nvSpPr>
        <p:spPr>
          <a:xfrm>
            <a:off x="777240" y="5367528"/>
            <a:ext cx="1188720" cy="320040"/>
          </a:xfrm>
          <a:prstGeom prst="rect">
            <a:avLst/>
          </a:prstGeom>
          <a:noFill/>
          <a:ln/>
        </p:spPr>
        <p:txBody>
          <a:bodyPr wrap="square" lIns="0" tIns="0" rIns="0" bIns="0" rtlCol="0" anchor="ctr"/>
          <a:lstStyle/>
          <a:p>
            <a:pPr marL="0" indent="0" algn="l">
              <a:buNone/>
            </a:pPr>
            <a:r>
              <a:rPr lang="en-US" sz="1200" b="1" dirty="0">
                <a:solidFill>
                  <a:srgbClr val="F900A0"/>
                </a:solidFill>
                <a:latin typeface="Courier New" pitchFamily="34" charset="0"/>
                <a:ea typeface="Courier New" pitchFamily="34" charset="-122"/>
                <a:cs typeface="Courier New" pitchFamily="34" charset="-120"/>
              </a:rPr>
              <a:t>CWE-117</a:t>
            </a:r>
            <a:endParaRPr lang="en-US" sz="1200" dirty="0"/>
          </a:p>
        </p:txBody>
      </p:sp>
      <p:sp>
        <p:nvSpPr>
          <p:cNvPr id="33" name="Text 31"/>
          <p:cNvSpPr txBox="1"/>
          <p:nvPr/>
        </p:nvSpPr>
        <p:spPr>
          <a:xfrm>
            <a:off x="1965960" y="5349240"/>
            <a:ext cx="4023360" cy="365760"/>
          </a:xfrm>
          <a:prstGeom prst="rect">
            <a:avLst/>
          </a:prstGeom>
          <a:noFill/>
          <a:ln/>
        </p:spPr>
        <p:txBody>
          <a:bodyPr wrap="square" lIns="0" tIns="0" rIns="0" bIns="0" rtlCol="0" anchor="ctr"/>
          <a:lstStyle/>
          <a:p>
            <a:pPr marL="0" indent="0" algn="l">
              <a:buNone/>
            </a:pPr>
            <a:r>
              <a:rPr lang="en-US" sz="1500" b="1" dirty="0">
                <a:solidFill>
                  <a:srgbClr val="201449"/>
                </a:solidFill>
                <a:latin typeface="Calibri" pitchFamily="34" charset="0"/>
                <a:ea typeface="Calibri" pitchFamily="34" charset="-122"/>
                <a:cs typeface="Calibri" pitchFamily="34" charset="-120"/>
              </a:rPr>
              <a:t>Log injection</a:t>
            </a:r>
            <a:endParaRPr lang="en-US" sz="1500" dirty="0"/>
          </a:p>
        </p:txBody>
      </p:sp>
      <p:sp>
        <p:nvSpPr>
          <p:cNvPr id="34" name="Shape 32"/>
          <p:cNvSpPr/>
          <p:nvPr/>
        </p:nvSpPr>
        <p:spPr>
          <a:xfrm>
            <a:off x="6309360" y="5166360"/>
            <a:ext cx="5577840" cy="685800"/>
          </a:xfrm>
          <a:prstGeom prst="roundRect">
            <a:avLst>
              <a:gd name="adj" fmla="val 10667"/>
            </a:avLst>
          </a:prstGeom>
          <a:solidFill>
            <a:srgbClr val="F3F0FB"/>
          </a:solidFill>
          <a:ln w="12700">
            <a:solidFill>
              <a:srgbClr val="E4DEF6"/>
            </a:solidFill>
            <a:prstDash val="solid"/>
          </a:ln>
        </p:spPr>
        <p:txBody>
          <a:bodyPr/>
          <a:lstStyle/>
          <a:p>
            <a:endParaRPr lang="en-US"/>
          </a:p>
        </p:txBody>
      </p:sp>
      <p:sp>
        <p:nvSpPr>
          <p:cNvPr id="35" name="Text 33"/>
          <p:cNvSpPr txBox="1"/>
          <p:nvPr/>
        </p:nvSpPr>
        <p:spPr>
          <a:xfrm>
            <a:off x="6537960" y="5367528"/>
            <a:ext cx="1188720" cy="320040"/>
          </a:xfrm>
          <a:prstGeom prst="rect">
            <a:avLst/>
          </a:prstGeom>
          <a:noFill/>
          <a:ln/>
        </p:spPr>
        <p:txBody>
          <a:bodyPr wrap="square" lIns="0" tIns="0" rIns="0" bIns="0" rtlCol="0" anchor="ctr"/>
          <a:lstStyle/>
          <a:p>
            <a:pPr marL="0" indent="0" algn="l">
              <a:buNone/>
            </a:pPr>
            <a:r>
              <a:rPr lang="en-US" sz="1200" b="1" dirty="0">
                <a:solidFill>
                  <a:srgbClr val="F900A0"/>
                </a:solidFill>
                <a:latin typeface="Courier New" pitchFamily="34" charset="0"/>
                <a:ea typeface="Courier New" pitchFamily="34" charset="-122"/>
                <a:cs typeface="Courier New" pitchFamily="34" charset="-120"/>
              </a:rPr>
              <a:t>CWE-918</a:t>
            </a:r>
            <a:endParaRPr lang="en-US" sz="1200" dirty="0"/>
          </a:p>
        </p:txBody>
      </p:sp>
      <p:sp>
        <p:nvSpPr>
          <p:cNvPr id="36" name="Text 34"/>
          <p:cNvSpPr txBox="1"/>
          <p:nvPr/>
        </p:nvSpPr>
        <p:spPr>
          <a:xfrm>
            <a:off x="7726680" y="5349240"/>
            <a:ext cx="4023360" cy="365760"/>
          </a:xfrm>
          <a:prstGeom prst="rect">
            <a:avLst/>
          </a:prstGeom>
          <a:noFill/>
          <a:ln/>
        </p:spPr>
        <p:txBody>
          <a:bodyPr wrap="square" lIns="0" tIns="0" rIns="0" bIns="0" rtlCol="0" anchor="ctr"/>
          <a:lstStyle/>
          <a:p>
            <a:pPr marL="0" indent="0" algn="l">
              <a:buNone/>
            </a:pPr>
            <a:r>
              <a:rPr lang="en-US" sz="1500" b="1" dirty="0">
                <a:solidFill>
                  <a:srgbClr val="201449"/>
                </a:solidFill>
                <a:latin typeface="Calibri" pitchFamily="34" charset="0"/>
                <a:ea typeface="Calibri" pitchFamily="34" charset="-122"/>
                <a:cs typeface="Calibri" pitchFamily="34" charset="-120"/>
              </a:rPr>
              <a:t>Server-side request forgery</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EXAMPLE · CWE-798</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Hardcoded credentials</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pic>
        <p:nvPicPr>
          <p:cNvPr id="15" name="Picture 14" descr="slide9-code.png">
            <a:extLst>
              <a:ext uri="{FF2B5EF4-FFF2-40B4-BE49-F238E27FC236}">
                <a16:creationId xmlns:a16="http://schemas.microsoft.com/office/drawing/2014/main" id="{802E296E-8E51-48B9-55EB-D5D909AEC09F}"/>
              </a:ext>
            </a:extLst>
          </p:cNvPr>
          <p:cNvPicPr>
            <a:picLocks noChangeAspect="1"/>
          </p:cNvPicPr>
          <p:nvPr/>
        </p:nvPicPr>
        <p:blipFill>
          <a:blip r:embed="rId3"/>
          <a:stretch>
            <a:fillRect/>
          </a:stretch>
        </p:blipFill>
        <p:spPr>
          <a:xfrm>
            <a:off x="290332" y="1600200"/>
            <a:ext cx="5196526" cy="4480560"/>
          </a:xfrm>
          <a:prstGeom prst="rect">
            <a:avLst/>
          </a:prstGeom>
        </p:spPr>
      </p:pic>
      <p:pic>
        <p:nvPicPr>
          <p:cNvPr id="16" name="Picture 15" descr="slide9-terminal.png">
            <a:extLst>
              <a:ext uri="{FF2B5EF4-FFF2-40B4-BE49-F238E27FC236}">
                <a16:creationId xmlns:a16="http://schemas.microsoft.com/office/drawing/2014/main" id="{D6DCAB87-4C04-E515-1437-D01652756C5F}"/>
              </a:ext>
            </a:extLst>
          </p:cNvPr>
          <p:cNvPicPr>
            <a:picLocks noChangeAspect="1"/>
          </p:cNvPicPr>
          <p:nvPr/>
        </p:nvPicPr>
        <p:blipFill>
          <a:blip r:embed="rId4"/>
          <a:stretch>
            <a:fillRect/>
          </a:stretch>
        </p:blipFill>
        <p:spPr>
          <a:xfrm>
            <a:off x="5646736" y="2260246"/>
            <a:ext cx="6254932" cy="27521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EXAMPLE · CWE-89</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SQL injection via string concatenation</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pic>
        <p:nvPicPr>
          <p:cNvPr id="15" name="Picture 14" descr="slide10-code.png">
            <a:extLst>
              <a:ext uri="{FF2B5EF4-FFF2-40B4-BE49-F238E27FC236}">
                <a16:creationId xmlns:a16="http://schemas.microsoft.com/office/drawing/2014/main" id="{F01E5412-5355-11F3-E93A-541B3C0E8FEA}"/>
              </a:ext>
            </a:extLst>
          </p:cNvPr>
          <p:cNvPicPr>
            <a:picLocks noChangeAspect="1"/>
          </p:cNvPicPr>
          <p:nvPr/>
        </p:nvPicPr>
        <p:blipFill>
          <a:blip r:embed="rId3"/>
          <a:stretch>
            <a:fillRect/>
          </a:stretch>
        </p:blipFill>
        <p:spPr>
          <a:xfrm>
            <a:off x="-1" y="1691639"/>
            <a:ext cx="8202847" cy="3308624"/>
          </a:xfrm>
          <a:prstGeom prst="rect">
            <a:avLst/>
          </a:prstGeom>
        </p:spPr>
      </p:pic>
      <p:pic>
        <p:nvPicPr>
          <p:cNvPr id="16" name="Picture 15" descr="slide10-terminal.png">
            <a:extLst>
              <a:ext uri="{FF2B5EF4-FFF2-40B4-BE49-F238E27FC236}">
                <a16:creationId xmlns:a16="http://schemas.microsoft.com/office/drawing/2014/main" id="{70553F02-40CA-7BC1-28A8-288637909810}"/>
              </a:ext>
            </a:extLst>
          </p:cNvPr>
          <p:cNvPicPr>
            <a:picLocks noChangeAspect="1"/>
          </p:cNvPicPr>
          <p:nvPr/>
        </p:nvPicPr>
        <p:blipFill>
          <a:blip r:embed="rId4"/>
          <a:stretch>
            <a:fillRect/>
          </a:stretch>
        </p:blipFill>
        <p:spPr>
          <a:xfrm>
            <a:off x="5704502" y="3549376"/>
            <a:ext cx="6487498" cy="330862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EXAMPLE · CWE-327</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Weak cryptographic algorithm</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pic>
        <p:nvPicPr>
          <p:cNvPr id="15" name="Picture 14" descr="slide11-code.png">
            <a:extLst>
              <a:ext uri="{FF2B5EF4-FFF2-40B4-BE49-F238E27FC236}">
                <a16:creationId xmlns:a16="http://schemas.microsoft.com/office/drawing/2014/main" id="{8C1B4A41-D22D-268C-336C-09A127FCC50B}"/>
              </a:ext>
            </a:extLst>
          </p:cNvPr>
          <p:cNvPicPr>
            <a:picLocks noChangeAspect="1"/>
          </p:cNvPicPr>
          <p:nvPr/>
        </p:nvPicPr>
        <p:blipFill>
          <a:blip r:embed="rId3"/>
          <a:stretch>
            <a:fillRect/>
          </a:stretch>
        </p:blipFill>
        <p:spPr>
          <a:xfrm>
            <a:off x="128286" y="1558241"/>
            <a:ext cx="5062521" cy="4522519"/>
          </a:xfrm>
          <a:prstGeom prst="rect">
            <a:avLst/>
          </a:prstGeom>
        </p:spPr>
      </p:pic>
      <p:pic>
        <p:nvPicPr>
          <p:cNvPr id="16" name="Picture 15" descr="slide11-terminal.png">
            <a:extLst>
              <a:ext uri="{FF2B5EF4-FFF2-40B4-BE49-F238E27FC236}">
                <a16:creationId xmlns:a16="http://schemas.microsoft.com/office/drawing/2014/main" id="{D8F5C98B-F22A-D4CD-9FB3-3A0E15A836BD}"/>
              </a:ext>
            </a:extLst>
          </p:cNvPr>
          <p:cNvPicPr>
            <a:picLocks noChangeAspect="1"/>
          </p:cNvPicPr>
          <p:nvPr/>
        </p:nvPicPr>
        <p:blipFill>
          <a:blip r:embed="rId4"/>
          <a:stretch>
            <a:fillRect/>
          </a:stretch>
        </p:blipFill>
        <p:spPr>
          <a:xfrm>
            <a:off x="5275662" y="2088959"/>
            <a:ext cx="6916338" cy="268008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201449"/>
        </a:solidFill>
        <a:effectLst/>
      </p:bgPr>
    </p:bg>
    <p:spTree>
      <p:nvGrpSpPr>
        <p:cNvPr id="1" name=""/>
        <p:cNvGrpSpPr/>
        <p:nvPr/>
      </p:nvGrpSpPr>
      <p:grpSpPr>
        <a:xfrm>
          <a:off x="0" y="0"/>
          <a:ext cx="0" cy="0"/>
          <a:chOff x="0" y="0"/>
          <a:chExt cx="0" cy="0"/>
        </a:xfrm>
      </p:grpSpPr>
      <p:sp>
        <p:nvSpPr>
          <p:cNvPr id="2" name="Shape 0"/>
          <p:cNvSpPr/>
          <p:nvPr/>
        </p:nvSpPr>
        <p:spPr>
          <a:xfrm>
            <a:off x="-1463040" y="-731520"/>
            <a:ext cx="6766560" cy="6766560"/>
          </a:xfrm>
          <a:prstGeom prst="ellipse">
            <a:avLst/>
          </a:prstGeom>
          <a:solidFill>
            <a:srgbClr val="3D1A5C">
              <a:alpha val="85000"/>
            </a:srgbClr>
          </a:solidFill>
          <a:ln/>
        </p:spPr>
        <p:txBody>
          <a:bodyPr/>
          <a:lstStyle/>
          <a:p>
            <a:endParaRPr lang="en-US"/>
          </a:p>
        </p:txBody>
      </p:sp>
      <p:sp>
        <p:nvSpPr>
          <p:cNvPr id="3" name="Shape 1"/>
          <p:cNvSpPr/>
          <p:nvPr/>
        </p:nvSpPr>
        <p:spPr>
          <a:xfrm>
            <a:off x="2651760" y="-1554480"/>
            <a:ext cx="6035040" cy="6035040"/>
          </a:xfrm>
          <a:prstGeom prst="ellipse">
            <a:avLst/>
          </a:prstGeom>
          <a:solidFill>
            <a:srgbClr val="F900A0">
              <a:alpha val="45000"/>
            </a:srgbClr>
          </a:solidFill>
          <a:ln/>
        </p:spPr>
        <p:txBody>
          <a:bodyPr/>
          <a:lstStyle/>
          <a:p>
            <a:endParaRPr lang="en-US"/>
          </a:p>
        </p:txBody>
      </p:sp>
      <p:sp>
        <p:nvSpPr>
          <p:cNvPr id="4" name="Shape 2"/>
          <p:cNvSpPr/>
          <p:nvPr/>
        </p:nvSpPr>
        <p:spPr>
          <a:xfrm>
            <a:off x="6766560" y="-548640"/>
            <a:ext cx="6217920" cy="6217920"/>
          </a:xfrm>
          <a:prstGeom prst="ellipse">
            <a:avLst/>
          </a:prstGeom>
          <a:solidFill>
            <a:srgbClr val="4B1A5C">
              <a:alpha val="80000"/>
            </a:srgbClr>
          </a:solidFill>
          <a:ln/>
        </p:spPr>
        <p:txBody>
          <a:bodyPr/>
          <a:lstStyle/>
          <a:p>
            <a:endParaRPr lang="en-US"/>
          </a:p>
        </p:txBody>
      </p:sp>
      <p:sp>
        <p:nvSpPr>
          <p:cNvPr id="5" name="Text 3"/>
          <p:cNvSpPr txBox="1"/>
          <p:nvPr/>
        </p:nvSpPr>
        <p:spPr>
          <a:xfrm>
            <a:off x="822960" y="1828800"/>
            <a:ext cx="3657600" cy="457200"/>
          </a:xfrm>
          <a:prstGeom prst="rect">
            <a:avLst/>
          </a:prstGeom>
          <a:noFill/>
          <a:ln/>
        </p:spPr>
        <p:txBody>
          <a:bodyPr wrap="square" lIns="0" tIns="0" rIns="0" bIns="0" rtlCol="0" anchor="ctr"/>
          <a:lstStyle/>
          <a:p>
            <a:pPr marL="0" indent="0" algn="l">
              <a:buNone/>
            </a:pPr>
            <a:r>
              <a:rPr lang="en-US" sz="1600" b="1" kern="0" spc="600" dirty="0">
                <a:solidFill>
                  <a:srgbClr val="F900A0"/>
                </a:solidFill>
                <a:latin typeface="Calibri" pitchFamily="34" charset="0"/>
                <a:ea typeface="Calibri" pitchFamily="34" charset="-122"/>
                <a:cs typeface="Calibri" pitchFamily="34" charset="-120"/>
              </a:rPr>
              <a:t>LIVE</a:t>
            </a:r>
            <a:endParaRPr lang="en-US" sz="1600" dirty="0"/>
          </a:p>
        </p:txBody>
      </p:sp>
      <p:sp>
        <p:nvSpPr>
          <p:cNvPr id="6" name="Text 4"/>
          <p:cNvSpPr txBox="1"/>
          <p:nvPr/>
        </p:nvSpPr>
        <p:spPr>
          <a:xfrm>
            <a:off x="822960" y="2331720"/>
            <a:ext cx="10545775" cy="1371600"/>
          </a:xfrm>
          <a:prstGeom prst="rect">
            <a:avLst/>
          </a:prstGeom>
          <a:noFill/>
          <a:ln/>
        </p:spPr>
        <p:txBody>
          <a:bodyPr wrap="square" lIns="0" tIns="0" rIns="0" bIns="0" rtlCol="0" anchor="ctr"/>
          <a:lstStyle/>
          <a:p>
            <a:pPr marL="0" indent="0" algn="l">
              <a:buNone/>
            </a:pPr>
            <a:r>
              <a:rPr lang="en-US" sz="9600" b="1" dirty="0">
                <a:solidFill>
                  <a:srgbClr val="FFFFFF"/>
                </a:solidFill>
                <a:latin typeface="Calibri" pitchFamily="34" charset="0"/>
                <a:ea typeface="Calibri" pitchFamily="34" charset="-122"/>
                <a:cs typeface="Calibri" pitchFamily="34" charset="-120"/>
              </a:rPr>
              <a:t>Demo</a:t>
            </a:r>
            <a:endParaRPr lang="en-US" sz="9600" dirty="0"/>
          </a:p>
        </p:txBody>
      </p:sp>
      <p:sp>
        <p:nvSpPr>
          <p:cNvPr id="7" name="Text 5"/>
          <p:cNvSpPr txBox="1"/>
          <p:nvPr/>
        </p:nvSpPr>
        <p:spPr>
          <a:xfrm>
            <a:off x="822960" y="4434840"/>
            <a:ext cx="10545775" cy="1737360"/>
          </a:xfrm>
          <a:prstGeom prst="rect">
            <a:avLst/>
          </a:prstGeom>
          <a:noFill/>
          <a:ln/>
        </p:spPr>
        <p:txBody>
          <a:bodyPr wrap="square" lIns="0" tIns="0" rIns="0" bIns="0" rtlCol="0" anchor="t"/>
          <a:lstStyle/>
          <a:p>
            <a:pPr marL="0" indent="0" algn="l">
              <a:buNone/>
            </a:pPr>
            <a:r>
              <a:rPr lang="en-US" sz="1300" b="1" kern="0" spc="200" dirty="0">
                <a:solidFill>
                  <a:srgbClr val="F900A0"/>
                </a:solidFill>
                <a:latin typeface="Calibri" pitchFamily="34" charset="0"/>
                <a:ea typeface="Calibri" pitchFamily="34" charset="-122"/>
                <a:cs typeface="Calibri" pitchFamily="34" charset="-120"/>
              </a:rPr>
              <a:t>What you're about to see</a:t>
            </a:r>
            <a:endParaRPr lang="en-US" sz="1300" dirty="0"/>
          </a:p>
          <a:p>
            <a:pPr marL="0" indent="0" algn="l">
              <a:buNone/>
            </a:pPr>
            <a:endParaRPr lang="en-US" sz="1300" dirty="0"/>
          </a:p>
          <a:p>
            <a:pPr marL="0" indent="0" algn="l">
              <a:buNone/>
            </a:pPr>
            <a:r>
              <a:rPr lang="en-US" sz="1500" b="1" dirty="0">
                <a:solidFill>
                  <a:srgbClr val="FFFFFF"/>
                </a:solidFill>
                <a:latin typeface="Calibri" pitchFamily="34" charset="0"/>
                <a:ea typeface="Calibri" pitchFamily="34" charset="-122"/>
                <a:cs typeface="Calibri" pitchFamily="34" charset="-120"/>
              </a:rPr>
              <a:t>A fresh Kotlin project with a clean build.</a:t>
            </a:r>
            <a:endParaRPr lang="en-US" sz="1300" dirty="0"/>
          </a:p>
          <a:p>
            <a:pPr marL="0" indent="0" algn="l">
              <a:buNone/>
            </a:pPr>
            <a:r>
              <a:rPr lang="en-US" sz="1500" b="1" dirty="0">
                <a:solidFill>
                  <a:srgbClr val="FFFFFF"/>
                </a:solidFill>
                <a:latin typeface="Calibri" pitchFamily="34" charset="0"/>
                <a:ea typeface="Calibri" pitchFamily="34" charset="-122"/>
                <a:cs typeface="Calibri" pitchFamily="34" charset="-120"/>
              </a:rPr>
              <a:t>Introducing vulnerabilities and watching the build fail.</a:t>
            </a:r>
            <a:endParaRPr lang="en-US" sz="1300" dirty="0"/>
          </a:p>
          <a:p>
            <a:pPr marL="0" indent="0" algn="l">
              <a:buNone/>
            </a:pPr>
            <a:r>
              <a:rPr lang="en-US" sz="1500" b="1" dirty="0">
                <a:solidFill>
                  <a:srgbClr val="FFFFFF"/>
                </a:solidFill>
                <a:latin typeface="Calibri" pitchFamily="34" charset="0"/>
                <a:ea typeface="Calibri" pitchFamily="34" charset="-122"/>
                <a:cs typeface="Calibri" pitchFamily="34" charset="-120"/>
              </a:rPr>
              <a:t>Fixing them and watching the build come back green.</a:t>
            </a:r>
            <a:endParaRPr lang="en-US" sz="1300" dirty="0"/>
          </a:p>
        </p:txBody>
      </p:sp>
      <p:sp>
        <p:nvSpPr>
          <p:cNvPr id="8" name="Text 6"/>
          <p:cNvSpPr txBox="1"/>
          <p:nvPr/>
        </p:nvSpPr>
        <p:spPr>
          <a:xfrm>
            <a:off x="457200" y="6446520"/>
            <a:ext cx="5486400" cy="274320"/>
          </a:xfrm>
          <a:prstGeom prst="rect">
            <a:avLst/>
          </a:prstGeom>
          <a:noFill/>
          <a:ln/>
        </p:spPr>
        <p:txBody>
          <a:bodyPr wrap="square" lIns="0" tIns="0" rIns="0" bIns="0" rtlCol="0" anchor="ctr"/>
          <a:lstStyle/>
          <a:p>
            <a:r>
              <a:rPr lang="en-US" sz="1000" dirty="0">
                <a:solidFill>
                  <a:srgbClr val="6E6B7A"/>
                </a:solidFill>
                <a:latin typeface="Calibri" pitchFamily="34" charset="0"/>
                <a:ea typeface="Calibri" pitchFamily="34" charset="-122"/>
                <a:cs typeface="Calibri" pitchFamily="34" charset="-120"/>
              </a:rPr>
              <a:t>compile-</a:t>
            </a:r>
            <a:r>
              <a:rPr lang="en-US" sz="1000" dirty="0" err="1">
                <a:solidFill>
                  <a:srgbClr val="6E6B7A"/>
                </a:solidFill>
                <a:latin typeface="Calibri" pitchFamily="34" charset="0"/>
                <a:ea typeface="Calibri" pitchFamily="34" charset="-122"/>
                <a:cs typeface="Calibri" pitchFamily="34" charset="-120"/>
              </a:rPr>
              <a:t>sast</a:t>
            </a:r>
            <a:r>
              <a:rPr lang="en-US" sz="1000" dirty="0">
                <a:solidFill>
                  <a:srgbClr val="6E6B7A"/>
                </a:solidFill>
                <a:latin typeface="Calibri" pitchFamily="34" charset="0"/>
                <a:ea typeface="Calibri" pitchFamily="34" charset="-122"/>
                <a:cs typeface="Calibri" pitchFamily="34" charset="-120"/>
              </a:rPr>
              <a:t>  ·  </a:t>
            </a:r>
            <a:r>
              <a:rPr lang="en-US" sz="1000" dirty="0" err="1">
                <a:solidFill>
                  <a:srgbClr val="6E6B7A"/>
                </a:solidFill>
                <a:latin typeface="Calibri" pitchFamily="34" charset="0"/>
                <a:ea typeface="Calibri" pitchFamily="34" charset="-122"/>
                <a:cs typeface="Calibri" pitchFamily="34" charset="-120"/>
              </a:rPr>
              <a:t>BSides</a:t>
            </a:r>
            <a:r>
              <a:rPr lang="en-US" sz="1000" dirty="0">
                <a:solidFill>
                  <a:srgbClr val="6E6B7A"/>
                </a:solidFill>
                <a:latin typeface="Calibri" pitchFamily="34" charset="0"/>
                <a:ea typeface="Calibri" pitchFamily="34" charset="-122"/>
                <a:cs typeface="Calibri" pitchFamily="34" charset="-120"/>
              </a:rPr>
              <a:t> Houston 2026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73E32CF-D7C7-6B88-220B-D4A07C8EEE0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C7DF00E-DB88-3EFF-DAA0-B2F515592EB6}"/>
              </a:ext>
            </a:extLst>
          </p:cNvPr>
          <p:cNvSpPr/>
          <p:nvPr/>
        </p:nvSpPr>
        <p:spPr>
          <a:xfrm>
            <a:off x="548640" y="457200"/>
            <a:ext cx="228600" cy="137160"/>
          </a:xfrm>
          <a:prstGeom prst="rect">
            <a:avLst/>
          </a:prstGeom>
          <a:solidFill>
            <a:srgbClr val="F900A0"/>
          </a:solidFill>
          <a:ln/>
        </p:spPr>
        <p:txBody>
          <a:bodyPr/>
          <a:lstStyle/>
          <a:p>
            <a:endParaRPr lang="en-US"/>
          </a:p>
        </p:txBody>
      </p:sp>
      <p:sp>
        <p:nvSpPr>
          <p:cNvPr id="3" name="Text 1">
            <a:extLst>
              <a:ext uri="{FF2B5EF4-FFF2-40B4-BE49-F238E27FC236}">
                <a16:creationId xmlns:a16="http://schemas.microsoft.com/office/drawing/2014/main" id="{FB94A0F4-FAB2-3DEB-23DE-7F758651284B}"/>
              </a:ext>
            </a:extLst>
          </p:cNvPr>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SCREENSHOT</a:t>
            </a:r>
            <a:endParaRPr lang="en-US" sz="1100" dirty="0"/>
          </a:p>
        </p:txBody>
      </p:sp>
      <p:sp>
        <p:nvSpPr>
          <p:cNvPr id="4" name="Text 2">
            <a:extLst>
              <a:ext uri="{FF2B5EF4-FFF2-40B4-BE49-F238E27FC236}">
                <a16:creationId xmlns:a16="http://schemas.microsoft.com/office/drawing/2014/main" id="{C24B098A-C41B-D4CC-0D2A-7B2BE605FF52}"/>
              </a:ext>
            </a:extLst>
          </p:cNvPr>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t>Just in case the live demo doesn’t work :’)</a:t>
            </a:r>
          </a:p>
        </p:txBody>
      </p:sp>
      <p:sp>
        <p:nvSpPr>
          <p:cNvPr id="5" name="Text 3">
            <a:extLst>
              <a:ext uri="{FF2B5EF4-FFF2-40B4-BE49-F238E27FC236}">
                <a16:creationId xmlns:a16="http://schemas.microsoft.com/office/drawing/2014/main" id="{24BE5FF2-33D6-90BE-A30F-EDDEBD7E255E}"/>
              </a:ext>
            </a:extLst>
          </p:cNvPr>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pic>
        <p:nvPicPr>
          <p:cNvPr id="6" name="screen_recoding_ compile-sast">
            <a:hlinkClick r:id="" action="ppaction://media"/>
            <a:extLst>
              <a:ext uri="{FF2B5EF4-FFF2-40B4-BE49-F238E27FC236}">
                <a16:creationId xmlns:a16="http://schemas.microsoft.com/office/drawing/2014/main" id="{EF46E97B-21BA-B5DD-BA1B-655C492958EC}"/>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48640" y="1641025"/>
            <a:ext cx="8715737" cy="3575949"/>
          </a:xfrm>
          <a:prstGeom prst="rect">
            <a:avLst/>
          </a:prstGeom>
        </p:spPr>
      </p:pic>
      <p:sp>
        <p:nvSpPr>
          <p:cNvPr id="7" name="TextBox 6">
            <a:extLst>
              <a:ext uri="{FF2B5EF4-FFF2-40B4-BE49-F238E27FC236}">
                <a16:creationId xmlns:a16="http://schemas.microsoft.com/office/drawing/2014/main" id="{BE53C559-3BB3-49FC-F69E-5EE7BB20C014}"/>
              </a:ext>
            </a:extLst>
          </p:cNvPr>
          <p:cNvSpPr txBox="1"/>
          <p:nvPr/>
        </p:nvSpPr>
        <p:spPr>
          <a:xfrm>
            <a:off x="548640" y="5711428"/>
            <a:ext cx="5967907" cy="369332"/>
          </a:xfrm>
          <a:prstGeom prst="rect">
            <a:avLst/>
          </a:prstGeom>
          <a:noFill/>
        </p:spPr>
        <p:txBody>
          <a:bodyPr wrap="square" rtlCol="0">
            <a:spAutoFit/>
          </a:bodyPr>
          <a:lstStyle/>
          <a:p>
            <a:r>
              <a:rPr lang="en-US" dirty="0"/>
              <a:t>Running ./</a:t>
            </a:r>
            <a:r>
              <a:rPr lang="en-US" dirty="0" err="1"/>
              <a:t>gradlew</a:t>
            </a:r>
            <a:r>
              <a:rPr lang="en-US" dirty="0"/>
              <a:t> :</a:t>
            </a:r>
            <a:r>
              <a:rPr lang="en-US" dirty="0" err="1"/>
              <a:t>sample-app:compileKotlin</a:t>
            </a:r>
            <a:r>
              <a:rPr lang="en-US" dirty="0"/>
              <a:t> in terminal</a:t>
            </a:r>
          </a:p>
        </p:txBody>
      </p:sp>
    </p:spTree>
    <p:extLst>
      <p:ext uri="{BB962C8B-B14F-4D97-AF65-F5344CB8AC3E}">
        <p14:creationId xmlns:p14="http://schemas.microsoft.com/office/powerpoint/2010/main" val="4049495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783"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GETTING STARTED</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Try it in your project</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7" name="Shape 5"/>
          <p:cNvSpPr/>
          <p:nvPr/>
        </p:nvSpPr>
        <p:spPr>
          <a:xfrm>
            <a:off x="548640" y="1920240"/>
            <a:ext cx="640080" cy="640080"/>
          </a:xfrm>
          <a:prstGeom prst="ellipse">
            <a:avLst/>
          </a:prstGeom>
          <a:solidFill>
            <a:srgbClr val="F900A0"/>
          </a:solidFill>
          <a:ln/>
        </p:spPr>
        <p:txBody>
          <a:bodyPr/>
          <a:lstStyle/>
          <a:p>
            <a:endParaRPr lang="en-US"/>
          </a:p>
        </p:txBody>
      </p:sp>
      <p:sp>
        <p:nvSpPr>
          <p:cNvPr id="8" name="Text 6"/>
          <p:cNvSpPr txBox="1"/>
          <p:nvPr/>
        </p:nvSpPr>
        <p:spPr>
          <a:xfrm>
            <a:off x="548640" y="192024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Text 7"/>
          <p:cNvSpPr txBox="1"/>
          <p:nvPr/>
        </p:nvSpPr>
        <p:spPr>
          <a:xfrm>
            <a:off x="1371600" y="1965960"/>
            <a:ext cx="2926080" cy="365760"/>
          </a:xfrm>
          <a:prstGeom prst="rect">
            <a:avLst/>
          </a:prstGeom>
          <a:noFill/>
          <a:ln/>
        </p:spPr>
        <p:txBody>
          <a:bodyPr wrap="square" lIns="0" tIns="0" rIns="0" bIns="0" rtlCol="0" anchor="ctr"/>
          <a:lstStyle/>
          <a:p>
            <a:pPr marL="0" indent="0" algn="l">
              <a:buNone/>
            </a:pPr>
            <a:r>
              <a:rPr lang="en-US" sz="1800" b="1" dirty="0">
                <a:solidFill>
                  <a:srgbClr val="201449"/>
                </a:solidFill>
                <a:latin typeface="Calibri" pitchFamily="34" charset="0"/>
                <a:ea typeface="Calibri" pitchFamily="34" charset="-122"/>
                <a:cs typeface="Calibri" pitchFamily="34" charset="-120"/>
              </a:rPr>
              <a:t>Add the plugin</a:t>
            </a:r>
            <a:endParaRPr lang="en-US" sz="1800" dirty="0"/>
          </a:p>
        </p:txBody>
      </p:sp>
      <p:sp>
        <p:nvSpPr>
          <p:cNvPr id="10" name="Text 8"/>
          <p:cNvSpPr txBox="1"/>
          <p:nvPr/>
        </p:nvSpPr>
        <p:spPr>
          <a:xfrm>
            <a:off x="1371600" y="2331720"/>
            <a:ext cx="2926080" cy="548640"/>
          </a:xfrm>
          <a:prstGeom prst="rect">
            <a:avLst/>
          </a:prstGeom>
          <a:noFill/>
          <a:ln/>
        </p:spPr>
        <p:txBody>
          <a:bodyPr wrap="square" lIns="0" tIns="0" rIns="0" bIns="0" rtlCol="0" anchor="ctr"/>
          <a:lstStyle/>
          <a:p>
            <a:pPr marL="0" indent="0" algn="l">
              <a:buNone/>
            </a:pPr>
            <a:r>
              <a:rPr lang="en-US" sz="1200" dirty="0">
                <a:solidFill>
                  <a:srgbClr val="6E6B7A"/>
                </a:solidFill>
                <a:latin typeface="Calibri" pitchFamily="34" charset="0"/>
                <a:ea typeface="Calibri" pitchFamily="34" charset="-122"/>
                <a:cs typeface="Calibri" pitchFamily="34" charset="-120"/>
              </a:rPr>
              <a:t>One line in build.gradle.kts</a:t>
            </a:r>
            <a:endParaRPr lang="en-US" sz="1200" dirty="0"/>
          </a:p>
        </p:txBody>
      </p:sp>
      <p:sp>
        <p:nvSpPr>
          <p:cNvPr id="11" name="Shape 9"/>
          <p:cNvSpPr/>
          <p:nvPr/>
        </p:nvSpPr>
        <p:spPr>
          <a:xfrm>
            <a:off x="4434840" y="1920240"/>
            <a:ext cx="640080" cy="640080"/>
          </a:xfrm>
          <a:prstGeom prst="ellipse">
            <a:avLst/>
          </a:prstGeom>
          <a:solidFill>
            <a:srgbClr val="F900A0"/>
          </a:solidFill>
          <a:ln/>
        </p:spPr>
        <p:txBody>
          <a:bodyPr/>
          <a:lstStyle/>
          <a:p>
            <a:endParaRPr lang="en-US"/>
          </a:p>
        </p:txBody>
      </p:sp>
      <p:sp>
        <p:nvSpPr>
          <p:cNvPr id="12" name="Text 10"/>
          <p:cNvSpPr txBox="1"/>
          <p:nvPr/>
        </p:nvSpPr>
        <p:spPr>
          <a:xfrm>
            <a:off x="4434840" y="192024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txBox="1"/>
          <p:nvPr/>
        </p:nvSpPr>
        <p:spPr>
          <a:xfrm>
            <a:off x="5257800" y="1965960"/>
            <a:ext cx="2926080" cy="365760"/>
          </a:xfrm>
          <a:prstGeom prst="rect">
            <a:avLst/>
          </a:prstGeom>
          <a:noFill/>
          <a:ln/>
        </p:spPr>
        <p:txBody>
          <a:bodyPr wrap="square" lIns="0" tIns="0" rIns="0" bIns="0" rtlCol="0" anchor="ctr"/>
          <a:lstStyle/>
          <a:p>
            <a:pPr marL="0" indent="0" algn="l">
              <a:buNone/>
            </a:pPr>
            <a:r>
              <a:rPr lang="en-US" sz="1800" b="1" dirty="0">
                <a:solidFill>
                  <a:srgbClr val="201449"/>
                </a:solidFill>
                <a:latin typeface="Calibri" pitchFamily="34" charset="0"/>
                <a:ea typeface="Calibri" pitchFamily="34" charset="-122"/>
                <a:cs typeface="Calibri" pitchFamily="34" charset="-120"/>
              </a:rPr>
              <a:t>Rebuild</a:t>
            </a:r>
            <a:endParaRPr lang="en-US" sz="1800" dirty="0"/>
          </a:p>
        </p:txBody>
      </p:sp>
      <p:sp>
        <p:nvSpPr>
          <p:cNvPr id="14" name="Text 12"/>
          <p:cNvSpPr txBox="1"/>
          <p:nvPr/>
        </p:nvSpPr>
        <p:spPr>
          <a:xfrm>
            <a:off x="5257800" y="2331720"/>
            <a:ext cx="2926080" cy="548640"/>
          </a:xfrm>
          <a:prstGeom prst="rect">
            <a:avLst/>
          </a:prstGeom>
          <a:noFill/>
          <a:ln/>
        </p:spPr>
        <p:txBody>
          <a:bodyPr wrap="square" lIns="0" tIns="0" rIns="0" bIns="0" rtlCol="0" anchor="ctr"/>
          <a:lstStyle/>
          <a:p>
            <a:pPr marL="0" indent="0" algn="l">
              <a:buNone/>
            </a:pPr>
            <a:r>
              <a:rPr lang="en-US" sz="1200" dirty="0">
                <a:solidFill>
                  <a:srgbClr val="6E6B7A"/>
                </a:solidFill>
                <a:latin typeface="Calibri" pitchFamily="34" charset="0"/>
                <a:ea typeface="Calibri" pitchFamily="34" charset="-122"/>
                <a:cs typeface="Calibri" pitchFamily="34" charset="-120"/>
              </a:rPr>
              <a:t>Existing rules run on your source</a:t>
            </a:r>
            <a:endParaRPr lang="en-US" sz="1200" dirty="0"/>
          </a:p>
        </p:txBody>
      </p:sp>
      <p:sp>
        <p:nvSpPr>
          <p:cNvPr id="15" name="Shape 13"/>
          <p:cNvSpPr/>
          <p:nvPr/>
        </p:nvSpPr>
        <p:spPr>
          <a:xfrm>
            <a:off x="8321040" y="1920240"/>
            <a:ext cx="640080" cy="640080"/>
          </a:xfrm>
          <a:prstGeom prst="ellipse">
            <a:avLst/>
          </a:prstGeom>
          <a:solidFill>
            <a:srgbClr val="F900A0"/>
          </a:solidFill>
          <a:ln/>
        </p:spPr>
        <p:txBody>
          <a:bodyPr/>
          <a:lstStyle/>
          <a:p>
            <a:endParaRPr lang="en-US"/>
          </a:p>
        </p:txBody>
      </p:sp>
      <p:sp>
        <p:nvSpPr>
          <p:cNvPr id="16" name="Text 14"/>
          <p:cNvSpPr txBox="1"/>
          <p:nvPr/>
        </p:nvSpPr>
        <p:spPr>
          <a:xfrm>
            <a:off x="8321040" y="192024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txBox="1"/>
          <p:nvPr/>
        </p:nvSpPr>
        <p:spPr>
          <a:xfrm>
            <a:off x="9144000" y="1965960"/>
            <a:ext cx="2926080" cy="365760"/>
          </a:xfrm>
          <a:prstGeom prst="rect">
            <a:avLst/>
          </a:prstGeom>
          <a:noFill/>
          <a:ln/>
        </p:spPr>
        <p:txBody>
          <a:bodyPr wrap="square" lIns="0" tIns="0" rIns="0" bIns="0" rtlCol="0" anchor="ctr"/>
          <a:lstStyle/>
          <a:p>
            <a:pPr marL="0" indent="0" algn="l">
              <a:buNone/>
            </a:pPr>
            <a:r>
              <a:rPr lang="en-US" sz="1800" b="1" dirty="0">
                <a:solidFill>
                  <a:srgbClr val="201449"/>
                </a:solidFill>
                <a:latin typeface="Calibri" pitchFamily="34" charset="0"/>
                <a:ea typeface="Calibri" pitchFamily="34" charset="-122"/>
                <a:cs typeface="Calibri" pitchFamily="34" charset="-120"/>
              </a:rPr>
              <a:t>Tune per-rule severity</a:t>
            </a:r>
            <a:endParaRPr lang="en-US" sz="1800" dirty="0"/>
          </a:p>
        </p:txBody>
      </p:sp>
      <p:sp>
        <p:nvSpPr>
          <p:cNvPr id="18" name="Text 16"/>
          <p:cNvSpPr txBox="1"/>
          <p:nvPr/>
        </p:nvSpPr>
        <p:spPr>
          <a:xfrm>
            <a:off x="9144000" y="2331720"/>
            <a:ext cx="2926080" cy="548640"/>
          </a:xfrm>
          <a:prstGeom prst="rect">
            <a:avLst/>
          </a:prstGeom>
          <a:noFill/>
          <a:ln/>
        </p:spPr>
        <p:txBody>
          <a:bodyPr wrap="square" lIns="0" tIns="0" rIns="0" bIns="0" rtlCol="0" anchor="ctr"/>
          <a:lstStyle/>
          <a:p>
            <a:pPr marL="0" indent="0" algn="l">
              <a:buNone/>
            </a:pPr>
            <a:r>
              <a:rPr lang="en-US" sz="1200" dirty="0">
                <a:solidFill>
                  <a:srgbClr val="6E6B7A"/>
                </a:solidFill>
                <a:latin typeface="Calibri" pitchFamily="34" charset="0"/>
                <a:ea typeface="Calibri" pitchFamily="34" charset="-122"/>
                <a:cs typeface="Calibri" pitchFamily="34" charset="-120"/>
              </a:rPr>
              <a:t>Everything is opt-out, per module</a:t>
            </a:r>
            <a:endParaRPr lang="en-US" sz="1200" dirty="0"/>
          </a:p>
        </p:txBody>
      </p:sp>
      <p:sp>
        <p:nvSpPr>
          <p:cNvPr id="19" name="Shape 17"/>
          <p:cNvSpPr/>
          <p:nvPr/>
        </p:nvSpPr>
        <p:spPr>
          <a:xfrm>
            <a:off x="548640" y="3291840"/>
            <a:ext cx="11094415" cy="320040"/>
          </a:xfrm>
          <a:prstGeom prst="rect">
            <a:avLst/>
          </a:prstGeom>
          <a:solidFill>
            <a:srgbClr val="2D1B5C"/>
          </a:solidFill>
          <a:ln/>
        </p:spPr>
        <p:txBody>
          <a:bodyPr/>
          <a:lstStyle/>
          <a:p>
            <a:endParaRPr lang="en-US"/>
          </a:p>
        </p:txBody>
      </p:sp>
      <p:sp>
        <p:nvSpPr>
          <p:cNvPr id="20" name="Text 18"/>
          <p:cNvSpPr txBox="1"/>
          <p:nvPr/>
        </p:nvSpPr>
        <p:spPr>
          <a:xfrm>
            <a:off x="685800" y="3319272"/>
            <a:ext cx="10820095" cy="274320"/>
          </a:xfrm>
          <a:prstGeom prst="rect">
            <a:avLst/>
          </a:prstGeom>
          <a:noFill/>
          <a:ln/>
        </p:spPr>
        <p:txBody>
          <a:bodyPr wrap="square" lIns="0" tIns="0" rIns="0" bIns="0" rtlCol="0" anchor="ctr"/>
          <a:lstStyle/>
          <a:p>
            <a:pPr marL="0" indent="0" algn="l">
              <a:buNone/>
            </a:pPr>
            <a:r>
              <a:rPr lang="en-US" sz="1000" dirty="0">
                <a:solidFill>
                  <a:srgbClr val="E4DEF6"/>
                </a:solidFill>
                <a:latin typeface="Courier New" pitchFamily="34" charset="0"/>
                <a:ea typeface="Courier New" pitchFamily="34" charset="-122"/>
                <a:cs typeface="Courier New" pitchFamily="34" charset="-120"/>
              </a:rPr>
              <a:t>build.gradle.kts</a:t>
            </a:r>
            <a:endParaRPr lang="en-US" sz="1000" dirty="0"/>
          </a:p>
        </p:txBody>
      </p:sp>
      <p:sp>
        <p:nvSpPr>
          <p:cNvPr id="21" name="Shape 19"/>
          <p:cNvSpPr/>
          <p:nvPr/>
        </p:nvSpPr>
        <p:spPr>
          <a:xfrm>
            <a:off x="548640" y="3611880"/>
            <a:ext cx="11094415" cy="2331720"/>
          </a:xfrm>
          <a:prstGeom prst="rect">
            <a:avLst/>
          </a:prstGeom>
          <a:solidFill>
            <a:srgbClr val="1A0F3D"/>
          </a:solidFill>
          <a:ln/>
        </p:spPr>
        <p:txBody>
          <a:bodyPr/>
          <a:lstStyle/>
          <a:p>
            <a:endParaRPr lang="en-US"/>
          </a:p>
        </p:txBody>
      </p:sp>
      <p:sp>
        <p:nvSpPr>
          <p:cNvPr id="22" name="Text 20"/>
          <p:cNvSpPr txBox="1"/>
          <p:nvPr/>
        </p:nvSpPr>
        <p:spPr>
          <a:xfrm>
            <a:off x="685800" y="3703320"/>
            <a:ext cx="10820095" cy="2194560"/>
          </a:xfrm>
          <a:prstGeom prst="rect">
            <a:avLst/>
          </a:prstGeom>
          <a:noFill/>
          <a:ln/>
        </p:spPr>
        <p:txBody>
          <a:bodyPr wrap="square" lIns="0" tIns="0" rIns="0" bIns="0" rtlCol="0" anchor="t"/>
          <a:lstStyle/>
          <a:p>
            <a:pPr marL="0" indent="0" algn="l">
              <a:buNone/>
            </a:pPr>
            <a:r>
              <a:rPr lang="en-US" sz="1100" dirty="0">
                <a:solidFill>
                  <a:srgbClr val="8A82B8"/>
                </a:solidFill>
                <a:latin typeface="Courier New" pitchFamily="34" charset="0"/>
                <a:ea typeface="Courier New" pitchFamily="34" charset="-122"/>
                <a:cs typeface="Courier New" pitchFamily="34" charset="-120"/>
              </a:rPr>
              <a:t>apply the plugin
</a:t>
            </a:r>
            <a:r>
              <a:rPr lang="en-US" sz="1100" dirty="0">
                <a:solidFill>
                  <a:srgbClr val="E4DEF6"/>
                </a:solidFill>
                <a:latin typeface="Courier New" pitchFamily="34" charset="0"/>
                <a:ea typeface="Courier New" pitchFamily="34" charset="-122"/>
                <a:cs typeface="Courier New" pitchFamily="34" charset="-120"/>
              </a:rPr>
              <a:t>plugins {
    kotlin("jvm") version "2.0.0"
    id("io.ziltonportfolio.compile-sast") version "0.1.0"
}
</a:t>
            </a:r>
            <a:r>
              <a:rPr lang="en-US" sz="1100" dirty="0">
                <a:solidFill>
                  <a:srgbClr val="8A82B8"/>
                </a:solidFill>
                <a:latin typeface="Courier New" pitchFamily="34" charset="0"/>
                <a:ea typeface="Courier New" pitchFamily="34" charset="-122"/>
                <a:cs typeface="Courier New" pitchFamily="34" charset="-120"/>
              </a:rPr>
              <a:t>optional: tune per-rule behavior
</a:t>
            </a:r>
            <a:r>
              <a:rPr lang="en-US" sz="1100" dirty="0">
                <a:solidFill>
                  <a:srgbClr val="E4DEF6"/>
                </a:solidFill>
                <a:latin typeface="Courier New" pitchFamily="34" charset="0"/>
                <a:ea typeface="Courier New" pitchFamily="34" charset="-122"/>
                <a:cs typeface="Courier New" pitchFamily="34" charset="-120"/>
              </a:rPr>
              <a:t>compileSast {
    rule("hardcoded-credentials").severity = "error"
    rule("weak-crypto").severity           = "warning"
}</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FUTURE ROADMAP</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What's next</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7" name="Shape 5"/>
          <p:cNvSpPr/>
          <p:nvPr/>
        </p:nvSpPr>
        <p:spPr>
          <a:xfrm>
            <a:off x="548640" y="1920240"/>
            <a:ext cx="5577840" cy="1920240"/>
          </a:xfrm>
          <a:prstGeom prst="roundRect">
            <a:avLst>
              <a:gd name="adj" fmla="val 5714"/>
            </a:avLst>
          </a:prstGeom>
          <a:solidFill>
            <a:srgbClr val="F3F0FB"/>
          </a:solidFill>
          <a:ln w="12700">
            <a:solidFill>
              <a:srgbClr val="E4DEF6"/>
            </a:solidFill>
            <a:prstDash val="solid"/>
          </a:ln>
        </p:spPr>
        <p:txBody>
          <a:bodyPr/>
          <a:lstStyle/>
          <a:p>
            <a:endParaRPr lang="en-US"/>
          </a:p>
        </p:txBody>
      </p:sp>
      <p:sp>
        <p:nvSpPr>
          <p:cNvPr id="8" name="Shape 6"/>
          <p:cNvSpPr/>
          <p:nvPr/>
        </p:nvSpPr>
        <p:spPr>
          <a:xfrm>
            <a:off x="822960" y="2194560"/>
            <a:ext cx="201168" cy="128016"/>
          </a:xfrm>
          <a:prstGeom prst="rect">
            <a:avLst/>
          </a:prstGeom>
          <a:solidFill>
            <a:srgbClr val="F900A0"/>
          </a:solidFill>
          <a:ln/>
        </p:spPr>
        <p:txBody>
          <a:bodyPr/>
          <a:lstStyle/>
          <a:p>
            <a:endParaRPr lang="en-US"/>
          </a:p>
        </p:txBody>
      </p:sp>
      <p:sp>
        <p:nvSpPr>
          <p:cNvPr id="9" name="Text 7"/>
          <p:cNvSpPr txBox="1"/>
          <p:nvPr/>
        </p:nvSpPr>
        <p:spPr>
          <a:xfrm>
            <a:off x="822960" y="2423160"/>
            <a:ext cx="5029200" cy="45720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More rule classes</a:t>
            </a:r>
            <a:endParaRPr lang="en-US" sz="2000" dirty="0"/>
          </a:p>
        </p:txBody>
      </p:sp>
      <p:sp>
        <p:nvSpPr>
          <p:cNvPr id="10" name="Text 8"/>
          <p:cNvSpPr txBox="1"/>
          <p:nvPr/>
        </p:nvSpPr>
        <p:spPr>
          <a:xfrm>
            <a:off x="822960" y="2880360"/>
            <a:ext cx="5029200" cy="914400"/>
          </a:xfrm>
          <a:prstGeom prst="rect">
            <a:avLst/>
          </a:prstGeom>
          <a:noFill/>
          <a:ln/>
        </p:spPr>
        <p:txBody>
          <a:bodyPr wrap="square" lIns="0" tIns="0" rIns="0" bIns="0" rtlCol="0" anchor="t"/>
          <a:lstStyle/>
          <a:p>
            <a:pPr marL="0" indent="0" algn="l">
              <a:buNone/>
            </a:pPr>
            <a:r>
              <a:rPr lang="en-US" sz="1300" dirty="0">
                <a:solidFill>
                  <a:srgbClr val="201449"/>
                </a:solidFill>
                <a:latin typeface="Calibri" pitchFamily="34" charset="0"/>
                <a:ea typeface="Calibri" pitchFamily="34" charset="-122"/>
                <a:cs typeface="Calibri" pitchFamily="34" charset="-120"/>
              </a:rPr>
              <a:t>The next wave targets adjacent gaps: insecure JWT usage, missing session-cookie flags, and framework-specific access-control patterns.</a:t>
            </a:r>
            <a:endParaRPr lang="en-US" sz="1300" dirty="0"/>
          </a:p>
        </p:txBody>
      </p:sp>
      <p:sp>
        <p:nvSpPr>
          <p:cNvPr id="11" name="Shape 9"/>
          <p:cNvSpPr/>
          <p:nvPr/>
        </p:nvSpPr>
        <p:spPr>
          <a:xfrm>
            <a:off x="6309360" y="1920240"/>
            <a:ext cx="5577840" cy="1920240"/>
          </a:xfrm>
          <a:prstGeom prst="roundRect">
            <a:avLst>
              <a:gd name="adj" fmla="val 5714"/>
            </a:avLst>
          </a:prstGeom>
          <a:solidFill>
            <a:srgbClr val="F3F0FB"/>
          </a:solidFill>
          <a:ln w="12700">
            <a:solidFill>
              <a:srgbClr val="E4DEF6"/>
            </a:solidFill>
            <a:prstDash val="solid"/>
          </a:ln>
        </p:spPr>
        <p:txBody>
          <a:bodyPr/>
          <a:lstStyle/>
          <a:p>
            <a:endParaRPr lang="en-US"/>
          </a:p>
        </p:txBody>
      </p:sp>
      <p:sp>
        <p:nvSpPr>
          <p:cNvPr id="12" name="Shape 10"/>
          <p:cNvSpPr/>
          <p:nvPr/>
        </p:nvSpPr>
        <p:spPr>
          <a:xfrm>
            <a:off x="6583680" y="2194560"/>
            <a:ext cx="201168" cy="128016"/>
          </a:xfrm>
          <a:prstGeom prst="rect">
            <a:avLst/>
          </a:prstGeom>
          <a:solidFill>
            <a:srgbClr val="F900A0"/>
          </a:solidFill>
          <a:ln/>
        </p:spPr>
        <p:txBody>
          <a:bodyPr/>
          <a:lstStyle/>
          <a:p>
            <a:endParaRPr lang="en-US"/>
          </a:p>
        </p:txBody>
      </p:sp>
      <p:sp>
        <p:nvSpPr>
          <p:cNvPr id="13" name="Text 11"/>
          <p:cNvSpPr txBox="1"/>
          <p:nvPr/>
        </p:nvSpPr>
        <p:spPr>
          <a:xfrm>
            <a:off x="6583680" y="2423160"/>
            <a:ext cx="5029200" cy="45720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Taint tracking added</a:t>
            </a:r>
            <a:endParaRPr lang="en-US" sz="2000" dirty="0"/>
          </a:p>
        </p:txBody>
      </p:sp>
      <p:sp>
        <p:nvSpPr>
          <p:cNvPr id="14" name="Text 12"/>
          <p:cNvSpPr txBox="1"/>
          <p:nvPr/>
        </p:nvSpPr>
        <p:spPr>
          <a:xfrm>
            <a:off x="6583680" y="2880360"/>
            <a:ext cx="5029200" cy="914400"/>
          </a:xfrm>
          <a:prstGeom prst="rect">
            <a:avLst/>
          </a:prstGeom>
          <a:noFill/>
          <a:ln/>
        </p:spPr>
        <p:txBody>
          <a:bodyPr wrap="square" lIns="0" tIns="0" rIns="0" bIns="0" rtlCol="0" anchor="t"/>
          <a:lstStyle/>
          <a:p>
            <a:pPr marL="0" indent="0" algn="l">
              <a:buNone/>
            </a:pPr>
            <a:r>
              <a:rPr lang="en-US" sz="1300" dirty="0">
                <a:solidFill>
                  <a:srgbClr val="201449"/>
                </a:solidFill>
                <a:latin typeface="Calibri" pitchFamily="34" charset="0"/>
                <a:cs typeface="Calibri" pitchFamily="34" charset="-120"/>
              </a:rPr>
              <a:t>Moves the project from a PoC to a legitimate open source SAST scanning tool.</a:t>
            </a:r>
            <a:endParaRPr lang="en-US" sz="1300" dirty="0"/>
          </a:p>
        </p:txBody>
      </p:sp>
      <p:sp>
        <p:nvSpPr>
          <p:cNvPr id="15" name="Shape 13"/>
          <p:cNvSpPr/>
          <p:nvPr/>
        </p:nvSpPr>
        <p:spPr>
          <a:xfrm>
            <a:off x="548640" y="4069080"/>
            <a:ext cx="5577840" cy="1920240"/>
          </a:xfrm>
          <a:prstGeom prst="roundRect">
            <a:avLst>
              <a:gd name="adj" fmla="val 5714"/>
            </a:avLst>
          </a:prstGeom>
          <a:solidFill>
            <a:srgbClr val="F3F0FB"/>
          </a:solidFill>
          <a:ln w="12700">
            <a:solidFill>
              <a:srgbClr val="E4DEF6"/>
            </a:solidFill>
            <a:prstDash val="solid"/>
          </a:ln>
        </p:spPr>
        <p:txBody>
          <a:bodyPr/>
          <a:lstStyle/>
          <a:p>
            <a:endParaRPr lang="en-US"/>
          </a:p>
        </p:txBody>
      </p:sp>
      <p:sp>
        <p:nvSpPr>
          <p:cNvPr id="16" name="Shape 14"/>
          <p:cNvSpPr/>
          <p:nvPr/>
        </p:nvSpPr>
        <p:spPr>
          <a:xfrm>
            <a:off x="822960" y="4343400"/>
            <a:ext cx="201168" cy="128016"/>
          </a:xfrm>
          <a:prstGeom prst="rect">
            <a:avLst/>
          </a:prstGeom>
          <a:solidFill>
            <a:srgbClr val="F900A0"/>
          </a:solidFill>
          <a:ln/>
        </p:spPr>
        <p:txBody>
          <a:bodyPr/>
          <a:lstStyle/>
          <a:p>
            <a:endParaRPr lang="en-US"/>
          </a:p>
        </p:txBody>
      </p:sp>
      <p:sp>
        <p:nvSpPr>
          <p:cNvPr id="17" name="Text 15"/>
          <p:cNvSpPr txBox="1"/>
          <p:nvPr/>
        </p:nvSpPr>
        <p:spPr>
          <a:xfrm>
            <a:off x="822960" y="4572000"/>
            <a:ext cx="5029200" cy="45720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Beyond Kotlin</a:t>
            </a:r>
            <a:endParaRPr lang="en-US" sz="2000" dirty="0"/>
          </a:p>
        </p:txBody>
      </p:sp>
      <p:sp>
        <p:nvSpPr>
          <p:cNvPr id="18" name="Text 16"/>
          <p:cNvSpPr txBox="1"/>
          <p:nvPr/>
        </p:nvSpPr>
        <p:spPr>
          <a:xfrm>
            <a:off x="822960" y="5029200"/>
            <a:ext cx="5029200" cy="914400"/>
          </a:xfrm>
          <a:prstGeom prst="rect">
            <a:avLst/>
          </a:prstGeom>
          <a:noFill/>
          <a:ln/>
        </p:spPr>
        <p:txBody>
          <a:bodyPr wrap="square" lIns="0" tIns="0" rIns="0" bIns="0" rtlCol="0" anchor="t"/>
          <a:lstStyle/>
          <a:p>
            <a:pPr marL="0" indent="0" algn="l">
              <a:buNone/>
            </a:pPr>
            <a:r>
              <a:rPr lang="en-US" sz="1300" dirty="0">
                <a:solidFill>
                  <a:srgbClr val="201449"/>
                </a:solidFill>
                <a:latin typeface="Calibri" pitchFamily="34" charset="0"/>
                <a:ea typeface="Calibri" pitchFamily="34" charset="-122"/>
                <a:cs typeface="Calibri" pitchFamily="34" charset="-120"/>
              </a:rPr>
              <a:t>The K2/FIR approach is Kotlin-specific by design, but the same shape works for any typed language with a plugin API.</a:t>
            </a:r>
            <a:endParaRPr lang="en-US" sz="1300" dirty="0"/>
          </a:p>
        </p:txBody>
      </p:sp>
      <p:sp>
        <p:nvSpPr>
          <p:cNvPr id="19" name="Shape 17"/>
          <p:cNvSpPr/>
          <p:nvPr/>
        </p:nvSpPr>
        <p:spPr>
          <a:xfrm>
            <a:off x="6309360" y="4069080"/>
            <a:ext cx="5577840" cy="1920240"/>
          </a:xfrm>
          <a:prstGeom prst="roundRect">
            <a:avLst>
              <a:gd name="adj" fmla="val 5714"/>
            </a:avLst>
          </a:prstGeom>
          <a:solidFill>
            <a:srgbClr val="F3F0FB"/>
          </a:solidFill>
          <a:ln w="12700">
            <a:solidFill>
              <a:srgbClr val="E4DEF6"/>
            </a:solidFill>
            <a:prstDash val="solid"/>
          </a:ln>
        </p:spPr>
        <p:txBody>
          <a:bodyPr/>
          <a:lstStyle/>
          <a:p>
            <a:endParaRPr lang="en-US"/>
          </a:p>
        </p:txBody>
      </p:sp>
      <p:sp>
        <p:nvSpPr>
          <p:cNvPr id="20" name="Shape 18"/>
          <p:cNvSpPr/>
          <p:nvPr/>
        </p:nvSpPr>
        <p:spPr>
          <a:xfrm>
            <a:off x="6583680" y="4343400"/>
            <a:ext cx="201168" cy="128016"/>
          </a:xfrm>
          <a:prstGeom prst="rect">
            <a:avLst/>
          </a:prstGeom>
          <a:solidFill>
            <a:srgbClr val="F900A0"/>
          </a:solidFill>
          <a:ln/>
        </p:spPr>
        <p:txBody>
          <a:bodyPr/>
          <a:lstStyle/>
          <a:p>
            <a:endParaRPr lang="en-US"/>
          </a:p>
        </p:txBody>
      </p:sp>
      <p:sp>
        <p:nvSpPr>
          <p:cNvPr id="21" name="Text 19"/>
          <p:cNvSpPr txBox="1"/>
          <p:nvPr/>
        </p:nvSpPr>
        <p:spPr>
          <a:xfrm>
            <a:off x="6583680" y="4572000"/>
            <a:ext cx="5029200" cy="45720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SCA compiler plugin</a:t>
            </a:r>
            <a:endParaRPr lang="en-US" sz="2000" dirty="0"/>
          </a:p>
        </p:txBody>
      </p:sp>
      <p:sp>
        <p:nvSpPr>
          <p:cNvPr id="22" name="Text 20"/>
          <p:cNvSpPr txBox="1"/>
          <p:nvPr/>
        </p:nvSpPr>
        <p:spPr>
          <a:xfrm>
            <a:off x="6583680" y="5029200"/>
            <a:ext cx="5029200" cy="914400"/>
          </a:xfrm>
          <a:prstGeom prst="rect">
            <a:avLst/>
          </a:prstGeom>
          <a:noFill/>
          <a:ln/>
        </p:spPr>
        <p:txBody>
          <a:bodyPr wrap="square" lIns="0" tIns="0" rIns="0" bIns="0" rtlCol="0" anchor="t"/>
          <a:lstStyle/>
          <a:p>
            <a:pPr marL="0" indent="0" algn="l">
              <a:buNone/>
            </a:pPr>
            <a:r>
              <a:rPr lang="en-US" sz="1300" dirty="0">
                <a:solidFill>
                  <a:srgbClr val="201449"/>
                </a:solidFill>
                <a:latin typeface="Calibri" pitchFamily="34" charset="0"/>
                <a:ea typeface="Calibri" pitchFamily="34" charset="-122"/>
                <a:cs typeface="Calibri" pitchFamily="34" charset="-120"/>
              </a:rPr>
              <a:t>I’m curious about potential adding more compiler plugins. An SCA scan for third party vulnerabilities (both direct and transitive) would be really cool to explore building.</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201449"/>
        </a:solidFill>
        <a:effectLst/>
      </p:bgPr>
    </p:bg>
    <p:spTree>
      <p:nvGrpSpPr>
        <p:cNvPr id="1" name=""/>
        <p:cNvGrpSpPr/>
        <p:nvPr/>
      </p:nvGrpSpPr>
      <p:grpSpPr>
        <a:xfrm>
          <a:off x="0" y="0"/>
          <a:ext cx="0" cy="0"/>
          <a:chOff x="0" y="0"/>
          <a:chExt cx="0" cy="0"/>
        </a:xfrm>
      </p:grpSpPr>
      <p:sp>
        <p:nvSpPr>
          <p:cNvPr id="2" name="Shape 0"/>
          <p:cNvSpPr/>
          <p:nvPr/>
        </p:nvSpPr>
        <p:spPr>
          <a:xfrm>
            <a:off x="-1463040" y="-731520"/>
            <a:ext cx="6766560" cy="6766560"/>
          </a:xfrm>
          <a:prstGeom prst="ellipse">
            <a:avLst/>
          </a:prstGeom>
          <a:solidFill>
            <a:srgbClr val="3D1A5C">
              <a:alpha val="85000"/>
            </a:srgbClr>
          </a:solidFill>
          <a:ln/>
        </p:spPr>
        <p:txBody>
          <a:bodyPr/>
          <a:lstStyle/>
          <a:p>
            <a:endParaRPr lang="en-US"/>
          </a:p>
        </p:txBody>
      </p:sp>
      <p:sp>
        <p:nvSpPr>
          <p:cNvPr id="3" name="Shape 1"/>
          <p:cNvSpPr/>
          <p:nvPr/>
        </p:nvSpPr>
        <p:spPr>
          <a:xfrm>
            <a:off x="2651760" y="-1554480"/>
            <a:ext cx="6035040" cy="6035040"/>
          </a:xfrm>
          <a:prstGeom prst="ellipse">
            <a:avLst/>
          </a:prstGeom>
          <a:solidFill>
            <a:srgbClr val="F900A0">
              <a:alpha val="45000"/>
            </a:srgbClr>
          </a:solidFill>
          <a:ln/>
        </p:spPr>
        <p:txBody>
          <a:bodyPr/>
          <a:lstStyle/>
          <a:p>
            <a:endParaRPr lang="en-US"/>
          </a:p>
        </p:txBody>
      </p:sp>
      <p:sp>
        <p:nvSpPr>
          <p:cNvPr id="4" name="Shape 2"/>
          <p:cNvSpPr/>
          <p:nvPr/>
        </p:nvSpPr>
        <p:spPr>
          <a:xfrm>
            <a:off x="6766560" y="-548640"/>
            <a:ext cx="6217920" cy="6217920"/>
          </a:xfrm>
          <a:prstGeom prst="ellipse">
            <a:avLst/>
          </a:prstGeom>
          <a:solidFill>
            <a:srgbClr val="4B1A5C">
              <a:alpha val="80000"/>
            </a:srgbClr>
          </a:solidFill>
          <a:ln/>
        </p:spPr>
        <p:txBody>
          <a:bodyPr/>
          <a:lstStyle/>
          <a:p>
            <a:endParaRPr lang="en-US"/>
          </a:p>
        </p:txBody>
      </p:sp>
      <p:sp>
        <p:nvSpPr>
          <p:cNvPr id="6" name="Text 4"/>
          <p:cNvSpPr txBox="1"/>
          <p:nvPr/>
        </p:nvSpPr>
        <p:spPr>
          <a:xfrm>
            <a:off x="822960" y="1783080"/>
            <a:ext cx="10545775" cy="1005840"/>
          </a:xfrm>
          <a:prstGeom prst="rect">
            <a:avLst/>
          </a:prstGeom>
          <a:noFill/>
          <a:ln/>
        </p:spPr>
        <p:txBody>
          <a:bodyPr wrap="square" lIns="0" tIns="0" rIns="0" bIns="0" rtlCol="0" anchor="ctr"/>
          <a:lstStyle/>
          <a:p>
            <a:pPr marL="0" indent="0" algn="l">
              <a:buNone/>
            </a:pPr>
            <a:r>
              <a:rPr lang="en-US" sz="6000" b="1" dirty="0">
                <a:solidFill>
                  <a:srgbClr val="FFFFFF"/>
                </a:solidFill>
                <a:latin typeface="Calibri" pitchFamily="34" charset="0"/>
                <a:ea typeface="Calibri" pitchFamily="34" charset="-122"/>
                <a:cs typeface="Calibri" pitchFamily="34" charset="-120"/>
              </a:rPr>
              <a:t>Let's keep talking.</a:t>
            </a:r>
            <a:endParaRPr lang="en-US" sz="6000" dirty="0"/>
          </a:p>
        </p:txBody>
      </p:sp>
      <p:sp>
        <p:nvSpPr>
          <p:cNvPr id="7" name="Shape 5"/>
          <p:cNvSpPr/>
          <p:nvPr/>
        </p:nvSpPr>
        <p:spPr>
          <a:xfrm>
            <a:off x="822960" y="3374136"/>
            <a:ext cx="274320" cy="36576"/>
          </a:xfrm>
          <a:prstGeom prst="rect">
            <a:avLst/>
          </a:prstGeom>
          <a:solidFill>
            <a:srgbClr val="F900A0"/>
          </a:solidFill>
          <a:ln/>
        </p:spPr>
        <p:txBody>
          <a:bodyPr/>
          <a:lstStyle/>
          <a:p>
            <a:endParaRPr lang="en-US"/>
          </a:p>
        </p:txBody>
      </p:sp>
      <p:sp>
        <p:nvSpPr>
          <p:cNvPr id="8" name="Text 6"/>
          <p:cNvSpPr txBox="1"/>
          <p:nvPr/>
        </p:nvSpPr>
        <p:spPr>
          <a:xfrm>
            <a:off x="1234440" y="3246120"/>
            <a:ext cx="9448495" cy="365760"/>
          </a:xfrm>
          <a:prstGeom prst="rect">
            <a:avLst/>
          </a:prstGeom>
          <a:noFill/>
          <a:ln/>
        </p:spPr>
        <p:txBody>
          <a:bodyPr wrap="square" lIns="0" tIns="0" rIns="0" bIns="0" rtlCol="0" anchor="ctr"/>
          <a:lstStyle/>
          <a:p>
            <a:pPr marL="0" indent="0" algn="l">
              <a:buNone/>
            </a:pPr>
            <a:r>
              <a:rPr lang="en-US" sz="1600" dirty="0">
                <a:solidFill>
                  <a:srgbClr val="FFFFFF"/>
                </a:solidFill>
                <a:latin typeface="Calibri" pitchFamily="34" charset="0"/>
                <a:ea typeface="Calibri" pitchFamily="34" charset="-122"/>
                <a:cs typeface="Calibri" pitchFamily="34" charset="-120"/>
              </a:rPr>
              <a:t>Which rules would you want to be blocking vs. warning?</a:t>
            </a:r>
            <a:endParaRPr lang="en-US" sz="1600" dirty="0"/>
          </a:p>
        </p:txBody>
      </p:sp>
      <p:sp>
        <p:nvSpPr>
          <p:cNvPr id="9" name="Shape 7"/>
          <p:cNvSpPr/>
          <p:nvPr/>
        </p:nvSpPr>
        <p:spPr>
          <a:xfrm>
            <a:off x="822960" y="3877056"/>
            <a:ext cx="274320" cy="36576"/>
          </a:xfrm>
          <a:prstGeom prst="rect">
            <a:avLst/>
          </a:prstGeom>
          <a:solidFill>
            <a:srgbClr val="F900A0"/>
          </a:solidFill>
          <a:ln/>
        </p:spPr>
        <p:txBody>
          <a:bodyPr/>
          <a:lstStyle/>
          <a:p>
            <a:endParaRPr lang="en-US"/>
          </a:p>
        </p:txBody>
      </p:sp>
      <p:sp>
        <p:nvSpPr>
          <p:cNvPr id="10" name="Text 8"/>
          <p:cNvSpPr txBox="1"/>
          <p:nvPr/>
        </p:nvSpPr>
        <p:spPr>
          <a:xfrm>
            <a:off x="1234440" y="3749040"/>
            <a:ext cx="9448495" cy="365760"/>
          </a:xfrm>
          <a:prstGeom prst="rect">
            <a:avLst/>
          </a:prstGeom>
          <a:noFill/>
          <a:ln/>
        </p:spPr>
        <p:txBody>
          <a:bodyPr wrap="square" lIns="0" tIns="0" rIns="0" bIns="0" rtlCol="0" anchor="ctr"/>
          <a:lstStyle/>
          <a:p>
            <a:pPr marL="0" indent="0" algn="l">
              <a:buNone/>
            </a:pPr>
            <a:r>
              <a:rPr lang="en-US" sz="1600" dirty="0">
                <a:solidFill>
                  <a:srgbClr val="FFFFFF"/>
                </a:solidFill>
                <a:latin typeface="Calibri" pitchFamily="34" charset="0"/>
                <a:ea typeface="Calibri" pitchFamily="34" charset="-122"/>
                <a:cs typeface="Calibri" pitchFamily="34" charset="-120"/>
              </a:rPr>
              <a:t>What's the boundary between "compiler's job" and "linter's job"?</a:t>
            </a:r>
            <a:endParaRPr lang="en-US" sz="1600" dirty="0"/>
          </a:p>
        </p:txBody>
      </p:sp>
      <p:sp>
        <p:nvSpPr>
          <p:cNvPr id="11" name="Shape 9"/>
          <p:cNvSpPr/>
          <p:nvPr/>
        </p:nvSpPr>
        <p:spPr>
          <a:xfrm>
            <a:off x="822960" y="4379976"/>
            <a:ext cx="274320" cy="36576"/>
          </a:xfrm>
          <a:prstGeom prst="rect">
            <a:avLst/>
          </a:prstGeom>
          <a:solidFill>
            <a:srgbClr val="F900A0"/>
          </a:solidFill>
          <a:ln/>
        </p:spPr>
        <p:txBody>
          <a:bodyPr/>
          <a:lstStyle/>
          <a:p>
            <a:endParaRPr lang="en-US"/>
          </a:p>
        </p:txBody>
      </p:sp>
      <p:sp>
        <p:nvSpPr>
          <p:cNvPr id="12" name="Text 10"/>
          <p:cNvSpPr txBox="1"/>
          <p:nvPr/>
        </p:nvSpPr>
        <p:spPr>
          <a:xfrm>
            <a:off x="1234440" y="4251960"/>
            <a:ext cx="9448495" cy="365760"/>
          </a:xfrm>
          <a:prstGeom prst="rect">
            <a:avLst/>
          </a:prstGeom>
          <a:noFill/>
          <a:ln/>
        </p:spPr>
        <p:txBody>
          <a:bodyPr wrap="square" lIns="0" tIns="0" rIns="0" bIns="0" rtlCol="0" anchor="ctr"/>
          <a:lstStyle/>
          <a:p>
            <a:pPr marL="0" indent="0" algn="l">
              <a:buNone/>
            </a:pPr>
            <a:r>
              <a:rPr lang="en-US" sz="1600" dirty="0">
                <a:solidFill>
                  <a:srgbClr val="FFFFFF"/>
                </a:solidFill>
                <a:latin typeface="Calibri" pitchFamily="34" charset="0"/>
                <a:ea typeface="Calibri" pitchFamily="34" charset="-122"/>
                <a:cs typeface="Calibri" pitchFamily="34" charset="-120"/>
              </a:rPr>
              <a:t>How would you sell build-time enforcement to a skeptical team?</a:t>
            </a:r>
            <a:endParaRPr lang="en-US" sz="1600" dirty="0"/>
          </a:p>
        </p:txBody>
      </p:sp>
      <p:sp>
        <p:nvSpPr>
          <p:cNvPr id="13" name="Shape 11"/>
          <p:cNvSpPr/>
          <p:nvPr/>
        </p:nvSpPr>
        <p:spPr>
          <a:xfrm>
            <a:off x="822960" y="4882896"/>
            <a:ext cx="274320" cy="36576"/>
          </a:xfrm>
          <a:prstGeom prst="rect">
            <a:avLst/>
          </a:prstGeom>
          <a:solidFill>
            <a:srgbClr val="F900A0"/>
          </a:solidFill>
          <a:ln/>
        </p:spPr>
        <p:txBody>
          <a:bodyPr/>
          <a:lstStyle/>
          <a:p>
            <a:endParaRPr lang="en-US"/>
          </a:p>
        </p:txBody>
      </p:sp>
      <p:sp>
        <p:nvSpPr>
          <p:cNvPr id="14" name="Text 12"/>
          <p:cNvSpPr txBox="1"/>
          <p:nvPr/>
        </p:nvSpPr>
        <p:spPr>
          <a:xfrm>
            <a:off x="1234440" y="4754880"/>
            <a:ext cx="9448495" cy="365760"/>
          </a:xfrm>
          <a:prstGeom prst="rect">
            <a:avLst/>
          </a:prstGeom>
          <a:noFill/>
          <a:ln/>
        </p:spPr>
        <p:txBody>
          <a:bodyPr wrap="square" lIns="0" tIns="0" rIns="0" bIns="0" rtlCol="0" anchor="ctr"/>
          <a:lstStyle/>
          <a:p>
            <a:pPr marL="0" indent="0" algn="l">
              <a:buNone/>
            </a:pPr>
            <a:r>
              <a:rPr lang="en-US" sz="1600" dirty="0">
                <a:solidFill>
                  <a:srgbClr val="FFFFFF"/>
                </a:solidFill>
                <a:latin typeface="Calibri" pitchFamily="34" charset="0"/>
                <a:ea typeface="Calibri" pitchFamily="34" charset="-122"/>
                <a:cs typeface="Calibri" pitchFamily="34" charset="-120"/>
              </a:rPr>
              <a:t>What are some of your thoughts on Shift Left philosophy?</a:t>
            </a:r>
            <a:endParaRPr lang="en-US" sz="1600" dirty="0"/>
          </a:p>
        </p:txBody>
      </p:sp>
      <p:sp>
        <p:nvSpPr>
          <p:cNvPr id="15" name="Shape 13"/>
          <p:cNvSpPr/>
          <p:nvPr/>
        </p:nvSpPr>
        <p:spPr>
          <a:xfrm>
            <a:off x="822960" y="5623560"/>
            <a:ext cx="10545775" cy="13716"/>
          </a:xfrm>
          <a:prstGeom prst="rect">
            <a:avLst/>
          </a:prstGeom>
          <a:solidFill>
            <a:srgbClr val="F900A0">
              <a:alpha val="60000"/>
            </a:srgbClr>
          </a:solidFill>
          <a:ln/>
        </p:spPr>
        <p:txBody>
          <a:bodyPr/>
          <a:lstStyle/>
          <a:p>
            <a:endParaRPr lang="en-US"/>
          </a:p>
        </p:txBody>
      </p:sp>
      <p:sp>
        <p:nvSpPr>
          <p:cNvPr id="16" name="Text 14"/>
          <p:cNvSpPr txBox="1"/>
          <p:nvPr/>
        </p:nvSpPr>
        <p:spPr>
          <a:xfrm>
            <a:off x="822960" y="5806440"/>
            <a:ext cx="10545775" cy="365760"/>
          </a:xfrm>
          <a:prstGeom prst="rect">
            <a:avLst/>
          </a:prstGeom>
          <a:noFill/>
          <a:ln/>
        </p:spPr>
        <p:txBody>
          <a:bodyPr wrap="square" lIns="0" tIns="0" rIns="0" bIns="0" rtlCol="0" anchor="ctr"/>
          <a:lstStyle/>
          <a:p>
            <a:r>
              <a:rPr lang="en-US" sz="1400" dirty="0">
                <a:solidFill>
                  <a:srgbClr val="6E6B7A"/>
                </a:solidFill>
                <a:latin typeface="Calibri" pitchFamily="34" charset="0"/>
                <a:ea typeface="Calibri" pitchFamily="34" charset="-122"/>
                <a:cs typeface="Calibri" pitchFamily="34" charset="-120"/>
              </a:rPr>
              <a:t>compile-</a:t>
            </a:r>
            <a:r>
              <a:rPr lang="en-US" sz="1400" dirty="0" err="1">
                <a:solidFill>
                  <a:srgbClr val="6E6B7A"/>
                </a:solidFill>
                <a:latin typeface="Calibri" pitchFamily="34" charset="0"/>
                <a:ea typeface="Calibri" pitchFamily="34" charset="-122"/>
                <a:cs typeface="Calibri" pitchFamily="34" charset="-120"/>
              </a:rPr>
              <a:t>sast</a:t>
            </a:r>
            <a:r>
              <a:rPr lang="en-US" sz="1400" dirty="0">
                <a:solidFill>
                  <a:srgbClr val="6E6B7A"/>
                </a:solidFill>
                <a:latin typeface="Calibri" pitchFamily="34" charset="0"/>
                <a:ea typeface="Calibri" pitchFamily="34" charset="-122"/>
                <a:cs typeface="Calibri" pitchFamily="34" charset="-120"/>
              </a:rPr>
              <a:t>  ·  </a:t>
            </a:r>
            <a:r>
              <a:rPr lang="en-US" sz="1400" dirty="0" err="1">
                <a:solidFill>
                  <a:srgbClr val="6E6B7A"/>
                </a:solidFill>
                <a:latin typeface="Calibri" pitchFamily="34" charset="0"/>
                <a:ea typeface="Calibri" pitchFamily="34" charset="-122"/>
                <a:cs typeface="Calibri" pitchFamily="34" charset="-120"/>
              </a:rPr>
              <a:t>BSides</a:t>
            </a:r>
            <a:r>
              <a:rPr lang="en-US" sz="1400" dirty="0">
                <a:solidFill>
                  <a:srgbClr val="6E6B7A"/>
                </a:solidFill>
                <a:latin typeface="Calibri" pitchFamily="34" charset="0"/>
                <a:ea typeface="Calibri" pitchFamily="34" charset="-122"/>
                <a:cs typeface="Calibri" pitchFamily="34" charset="-120"/>
              </a:rPr>
              <a:t> Houston 2026</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E42A0-A9A4-2B09-7E5F-3D1B591BA2E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DC24B72-227B-78DC-4849-39745BEF3165}"/>
              </a:ext>
            </a:extLst>
          </p:cNvPr>
          <p:cNvSpPr/>
          <p:nvPr/>
        </p:nvSpPr>
        <p:spPr>
          <a:xfrm>
            <a:off x="548640" y="457200"/>
            <a:ext cx="228600" cy="137160"/>
          </a:xfrm>
          <a:prstGeom prst="rect">
            <a:avLst/>
          </a:prstGeom>
          <a:solidFill>
            <a:srgbClr val="F900A0"/>
          </a:solidFill>
          <a:ln/>
        </p:spPr>
        <p:txBody>
          <a:bodyPr/>
          <a:lstStyle/>
          <a:p>
            <a:endParaRPr lang="en-US"/>
          </a:p>
        </p:txBody>
      </p:sp>
      <p:sp>
        <p:nvSpPr>
          <p:cNvPr id="3" name="Text 1">
            <a:extLst>
              <a:ext uri="{FF2B5EF4-FFF2-40B4-BE49-F238E27FC236}">
                <a16:creationId xmlns:a16="http://schemas.microsoft.com/office/drawing/2014/main" id="{51546314-5AE5-0E0F-9561-62B0822F036A}"/>
              </a:ext>
            </a:extLst>
          </p:cNvPr>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BYE</a:t>
            </a:r>
            <a:endParaRPr lang="en-US" sz="1100" dirty="0"/>
          </a:p>
        </p:txBody>
      </p:sp>
      <p:sp>
        <p:nvSpPr>
          <p:cNvPr id="4" name="Text 2">
            <a:extLst>
              <a:ext uri="{FF2B5EF4-FFF2-40B4-BE49-F238E27FC236}">
                <a16:creationId xmlns:a16="http://schemas.microsoft.com/office/drawing/2014/main" id="{1289BE78-3559-88B6-19A1-087638D82AF2}"/>
              </a:ext>
            </a:extLst>
          </p:cNvPr>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Connect with me </a:t>
            </a:r>
            <a:r>
              <a:rPr lang="en-US" sz="4000" dirty="0">
                <a:solidFill>
                  <a:srgbClr val="201449"/>
                </a:solidFill>
                <a:latin typeface="Calibri" pitchFamily="34" charset="0"/>
                <a:ea typeface="Calibri" pitchFamily="34" charset="-122"/>
                <a:cs typeface="Calibri" pitchFamily="34" charset="-120"/>
                <a:sym typeface="Wingdings" pitchFamily="2" charset="2"/>
              </a:rPr>
              <a:t></a:t>
            </a:r>
            <a:endParaRPr lang="en-US" sz="4000" dirty="0"/>
          </a:p>
        </p:txBody>
      </p:sp>
      <p:sp>
        <p:nvSpPr>
          <p:cNvPr id="5" name="Text 3">
            <a:extLst>
              <a:ext uri="{FF2B5EF4-FFF2-40B4-BE49-F238E27FC236}">
                <a16:creationId xmlns:a16="http://schemas.microsoft.com/office/drawing/2014/main" id="{D8BD3014-83A4-5A77-7C37-4E0DA7A7BBC8}"/>
              </a:ext>
            </a:extLst>
          </p:cNvPr>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7" name="Shape 5">
            <a:extLst>
              <a:ext uri="{FF2B5EF4-FFF2-40B4-BE49-F238E27FC236}">
                <a16:creationId xmlns:a16="http://schemas.microsoft.com/office/drawing/2014/main" id="{2799BCF2-4017-AD2C-2DE0-67914D7B58AB}"/>
              </a:ext>
            </a:extLst>
          </p:cNvPr>
          <p:cNvSpPr/>
          <p:nvPr/>
        </p:nvSpPr>
        <p:spPr>
          <a:xfrm>
            <a:off x="548640" y="1920240"/>
            <a:ext cx="5577840" cy="1920240"/>
          </a:xfrm>
          <a:prstGeom prst="roundRect">
            <a:avLst>
              <a:gd name="adj" fmla="val 5714"/>
            </a:avLst>
          </a:prstGeom>
          <a:solidFill>
            <a:srgbClr val="F3F0FB"/>
          </a:solidFill>
          <a:ln w="12700">
            <a:solidFill>
              <a:srgbClr val="E4DEF6"/>
            </a:solidFill>
            <a:prstDash val="solid"/>
          </a:ln>
        </p:spPr>
        <p:txBody>
          <a:bodyPr/>
          <a:lstStyle/>
          <a:p>
            <a:endParaRPr lang="en-US"/>
          </a:p>
        </p:txBody>
      </p:sp>
      <p:sp>
        <p:nvSpPr>
          <p:cNvPr id="8" name="Shape 6">
            <a:extLst>
              <a:ext uri="{FF2B5EF4-FFF2-40B4-BE49-F238E27FC236}">
                <a16:creationId xmlns:a16="http://schemas.microsoft.com/office/drawing/2014/main" id="{B655D067-14A2-FD43-312D-8B968DD3DC3E}"/>
              </a:ext>
            </a:extLst>
          </p:cNvPr>
          <p:cNvSpPr/>
          <p:nvPr/>
        </p:nvSpPr>
        <p:spPr>
          <a:xfrm>
            <a:off x="822960" y="2194560"/>
            <a:ext cx="201168" cy="128016"/>
          </a:xfrm>
          <a:prstGeom prst="rect">
            <a:avLst/>
          </a:prstGeom>
          <a:solidFill>
            <a:srgbClr val="F900A0"/>
          </a:solidFill>
          <a:ln/>
        </p:spPr>
        <p:txBody>
          <a:bodyPr/>
          <a:lstStyle/>
          <a:p>
            <a:endParaRPr lang="en-US"/>
          </a:p>
        </p:txBody>
      </p:sp>
      <p:sp>
        <p:nvSpPr>
          <p:cNvPr id="9" name="Text 7">
            <a:extLst>
              <a:ext uri="{FF2B5EF4-FFF2-40B4-BE49-F238E27FC236}">
                <a16:creationId xmlns:a16="http://schemas.microsoft.com/office/drawing/2014/main" id="{D59D663C-3BFF-172E-CE20-08D08739A6CA}"/>
              </a:ext>
            </a:extLst>
          </p:cNvPr>
          <p:cNvSpPr txBox="1"/>
          <p:nvPr/>
        </p:nvSpPr>
        <p:spPr>
          <a:xfrm>
            <a:off x="822960" y="2423160"/>
            <a:ext cx="5029200" cy="457200"/>
          </a:xfrm>
          <a:prstGeom prst="rect">
            <a:avLst/>
          </a:prstGeom>
          <a:noFill/>
          <a:ln/>
        </p:spPr>
        <p:txBody>
          <a:bodyPr wrap="square" lIns="0" tIns="0" rIns="0" bIns="0" rtlCol="0" anchor="ctr"/>
          <a:lstStyle/>
          <a:p>
            <a:pPr marL="0" indent="0" algn="l">
              <a:buNone/>
            </a:pPr>
            <a:r>
              <a:rPr lang="en-US" sz="2000" b="1" dirty="0" err="1">
                <a:solidFill>
                  <a:srgbClr val="201449"/>
                </a:solidFill>
                <a:latin typeface="Calibri" pitchFamily="34" charset="0"/>
                <a:ea typeface="Calibri" pitchFamily="34" charset="-122"/>
                <a:cs typeface="Calibri" pitchFamily="34" charset="-120"/>
              </a:rPr>
              <a:t>Github</a:t>
            </a:r>
            <a:r>
              <a:rPr lang="en-US" sz="2000" b="1" dirty="0">
                <a:solidFill>
                  <a:srgbClr val="201449"/>
                </a:solidFill>
                <a:latin typeface="Calibri" pitchFamily="34" charset="0"/>
                <a:ea typeface="Calibri" pitchFamily="34" charset="-122"/>
                <a:cs typeface="Calibri" pitchFamily="34" charset="-120"/>
              </a:rPr>
              <a:t>: </a:t>
            </a:r>
            <a:endParaRPr lang="en-US" sz="2000" dirty="0"/>
          </a:p>
        </p:txBody>
      </p:sp>
      <p:sp>
        <p:nvSpPr>
          <p:cNvPr id="10" name="Text 8">
            <a:extLst>
              <a:ext uri="{FF2B5EF4-FFF2-40B4-BE49-F238E27FC236}">
                <a16:creationId xmlns:a16="http://schemas.microsoft.com/office/drawing/2014/main" id="{8EA98B76-27E8-082F-59C4-BFBD56CBCBA7}"/>
              </a:ext>
            </a:extLst>
          </p:cNvPr>
          <p:cNvSpPr txBox="1"/>
          <p:nvPr/>
        </p:nvSpPr>
        <p:spPr>
          <a:xfrm>
            <a:off x="822960" y="2880360"/>
            <a:ext cx="5029200" cy="914400"/>
          </a:xfrm>
          <a:prstGeom prst="rect">
            <a:avLst/>
          </a:prstGeom>
          <a:noFill/>
          <a:ln/>
        </p:spPr>
        <p:txBody>
          <a:bodyPr wrap="square" lIns="0" tIns="0" rIns="0" bIns="0" rtlCol="0" anchor="t"/>
          <a:lstStyle/>
          <a:p>
            <a:r>
              <a:rPr lang="en-US" sz="1300" dirty="0">
                <a:solidFill>
                  <a:srgbClr val="201449"/>
                </a:solidFill>
                <a:latin typeface="Calibri" pitchFamily="34" charset="0"/>
                <a:ea typeface="Calibri" pitchFamily="34" charset="-122"/>
                <a:cs typeface="Calibri" pitchFamily="34" charset="-120"/>
              </a:rPr>
              <a:t>https://</a:t>
            </a:r>
            <a:r>
              <a:rPr lang="en-US" sz="1300" dirty="0" err="1">
                <a:solidFill>
                  <a:srgbClr val="201449"/>
                </a:solidFill>
                <a:latin typeface="Calibri" pitchFamily="34" charset="0"/>
                <a:ea typeface="Calibri" pitchFamily="34" charset="-122"/>
                <a:cs typeface="Calibri" pitchFamily="34" charset="-120"/>
              </a:rPr>
              <a:t>github.com</a:t>
            </a:r>
            <a:r>
              <a:rPr lang="en-US" sz="1300" dirty="0">
                <a:solidFill>
                  <a:srgbClr val="201449"/>
                </a:solidFill>
                <a:latin typeface="Calibri" pitchFamily="34" charset="0"/>
                <a:ea typeface="Calibri" pitchFamily="34" charset="-122"/>
                <a:cs typeface="Calibri" pitchFamily="34" charset="-120"/>
              </a:rPr>
              <a:t>/</a:t>
            </a:r>
            <a:r>
              <a:rPr lang="en-US" sz="1300" dirty="0" err="1">
                <a:solidFill>
                  <a:srgbClr val="201449"/>
                </a:solidFill>
                <a:latin typeface="Calibri" pitchFamily="34" charset="0"/>
                <a:ea typeface="Calibri" pitchFamily="34" charset="-122"/>
                <a:cs typeface="Calibri" pitchFamily="34" charset="-120"/>
              </a:rPr>
              <a:t>adinahhh</a:t>
            </a:r>
            <a:r>
              <a:rPr lang="en-US" sz="1300" dirty="0">
                <a:solidFill>
                  <a:srgbClr val="201449"/>
                </a:solidFill>
                <a:latin typeface="Calibri" pitchFamily="34" charset="0"/>
                <a:ea typeface="Calibri" pitchFamily="34" charset="-122"/>
                <a:cs typeface="Calibri" pitchFamily="34" charset="-120"/>
              </a:rPr>
              <a:t>/compile-</a:t>
            </a:r>
            <a:r>
              <a:rPr lang="en-US" sz="1300" dirty="0" err="1">
                <a:solidFill>
                  <a:srgbClr val="201449"/>
                </a:solidFill>
                <a:latin typeface="Calibri" pitchFamily="34" charset="0"/>
                <a:ea typeface="Calibri" pitchFamily="34" charset="-122"/>
                <a:cs typeface="Calibri" pitchFamily="34" charset="-120"/>
              </a:rPr>
              <a:t>sast</a:t>
            </a:r>
            <a:endParaRPr lang="en-US" sz="1300" dirty="0"/>
          </a:p>
        </p:txBody>
      </p:sp>
      <p:sp>
        <p:nvSpPr>
          <p:cNvPr id="15" name="Shape 13">
            <a:extLst>
              <a:ext uri="{FF2B5EF4-FFF2-40B4-BE49-F238E27FC236}">
                <a16:creationId xmlns:a16="http://schemas.microsoft.com/office/drawing/2014/main" id="{87C59795-D693-9190-316A-87685E9BA4A0}"/>
              </a:ext>
            </a:extLst>
          </p:cNvPr>
          <p:cNvSpPr/>
          <p:nvPr/>
        </p:nvSpPr>
        <p:spPr>
          <a:xfrm>
            <a:off x="548640" y="4069080"/>
            <a:ext cx="5577840" cy="1920240"/>
          </a:xfrm>
          <a:prstGeom prst="roundRect">
            <a:avLst>
              <a:gd name="adj" fmla="val 5714"/>
            </a:avLst>
          </a:prstGeom>
          <a:solidFill>
            <a:srgbClr val="F3F0FB"/>
          </a:solidFill>
          <a:ln w="12700">
            <a:solidFill>
              <a:srgbClr val="E4DEF6"/>
            </a:solidFill>
            <a:prstDash val="solid"/>
          </a:ln>
        </p:spPr>
        <p:txBody>
          <a:bodyPr/>
          <a:lstStyle/>
          <a:p>
            <a:endParaRPr lang="en-US"/>
          </a:p>
        </p:txBody>
      </p:sp>
      <p:sp>
        <p:nvSpPr>
          <p:cNvPr id="16" name="Shape 14">
            <a:extLst>
              <a:ext uri="{FF2B5EF4-FFF2-40B4-BE49-F238E27FC236}">
                <a16:creationId xmlns:a16="http://schemas.microsoft.com/office/drawing/2014/main" id="{CB2CF4FC-CFA6-4DF7-81EF-027E804FC43C}"/>
              </a:ext>
            </a:extLst>
          </p:cNvPr>
          <p:cNvSpPr/>
          <p:nvPr/>
        </p:nvSpPr>
        <p:spPr>
          <a:xfrm>
            <a:off x="822960" y="4343400"/>
            <a:ext cx="201168" cy="128016"/>
          </a:xfrm>
          <a:prstGeom prst="rect">
            <a:avLst/>
          </a:prstGeom>
          <a:solidFill>
            <a:srgbClr val="F900A0"/>
          </a:solidFill>
          <a:ln/>
        </p:spPr>
        <p:txBody>
          <a:bodyPr/>
          <a:lstStyle/>
          <a:p>
            <a:endParaRPr lang="en-US"/>
          </a:p>
        </p:txBody>
      </p:sp>
      <p:sp>
        <p:nvSpPr>
          <p:cNvPr id="17" name="Text 15">
            <a:extLst>
              <a:ext uri="{FF2B5EF4-FFF2-40B4-BE49-F238E27FC236}">
                <a16:creationId xmlns:a16="http://schemas.microsoft.com/office/drawing/2014/main" id="{E633D3E9-FA05-0D1D-2CE5-0D97E1B10912}"/>
              </a:ext>
            </a:extLst>
          </p:cNvPr>
          <p:cNvSpPr txBox="1"/>
          <p:nvPr/>
        </p:nvSpPr>
        <p:spPr>
          <a:xfrm>
            <a:off x="822960" y="4572000"/>
            <a:ext cx="5029200" cy="45720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Portfolio:</a:t>
            </a:r>
            <a:endParaRPr lang="en-US" sz="2000" dirty="0"/>
          </a:p>
        </p:txBody>
      </p:sp>
      <p:sp>
        <p:nvSpPr>
          <p:cNvPr id="18" name="Text 16">
            <a:extLst>
              <a:ext uri="{FF2B5EF4-FFF2-40B4-BE49-F238E27FC236}">
                <a16:creationId xmlns:a16="http://schemas.microsoft.com/office/drawing/2014/main" id="{693C124C-BC60-9684-C5E4-C9677F303E27}"/>
              </a:ext>
            </a:extLst>
          </p:cNvPr>
          <p:cNvSpPr txBox="1"/>
          <p:nvPr/>
        </p:nvSpPr>
        <p:spPr>
          <a:xfrm>
            <a:off x="822960" y="5029200"/>
            <a:ext cx="5029200" cy="914400"/>
          </a:xfrm>
          <a:prstGeom prst="rect">
            <a:avLst/>
          </a:prstGeom>
          <a:noFill/>
          <a:ln/>
        </p:spPr>
        <p:txBody>
          <a:bodyPr wrap="square" lIns="0" tIns="0" rIns="0" bIns="0" rtlCol="0" anchor="t"/>
          <a:lstStyle/>
          <a:p>
            <a:r>
              <a:rPr lang="en-US" sz="1300" dirty="0"/>
              <a:t>https://</a:t>
            </a:r>
            <a:r>
              <a:rPr lang="en-US" sz="1300" dirty="0" err="1"/>
              <a:t>ziltonportfolio.io</a:t>
            </a:r>
            <a:r>
              <a:rPr lang="en-US" sz="1300" dirty="0"/>
              <a:t>/</a:t>
            </a:r>
          </a:p>
        </p:txBody>
      </p:sp>
      <p:pic>
        <p:nvPicPr>
          <p:cNvPr id="6" name="Picture 5" descr="QR Code Image">
            <a:extLst>
              <a:ext uri="{FF2B5EF4-FFF2-40B4-BE49-F238E27FC236}">
                <a16:creationId xmlns:a16="http://schemas.microsoft.com/office/drawing/2014/main" id="{CAE99F6F-9EFF-64E4-6825-0ABB78B2E0CD}"/>
              </a:ext>
            </a:extLst>
          </p:cNvPr>
          <p:cNvPicPr>
            <a:picLocks noChangeAspect="1"/>
          </p:cNvPicPr>
          <p:nvPr/>
        </p:nvPicPr>
        <p:blipFill>
          <a:blip r:embed="rId3"/>
          <a:stretch>
            <a:fillRect/>
          </a:stretch>
        </p:blipFill>
        <p:spPr>
          <a:xfrm>
            <a:off x="7359730" y="1637818"/>
            <a:ext cx="3175000" cy="3175000"/>
          </a:xfrm>
          <a:prstGeom prst="rect">
            <a:avLst/>
          </a:prstGeom>
        </p:spPr>
      </p:pic>
    </p:spTree>
    <p:extLst>
      <p:ext uri="{BB962C8B-B14F-4D97-AF65-F5344CB8AC3E}">
        <p14:creationId xmlns:p14="http://schemas.microsoft.com/office/powerpoint/2010/main" val="3152479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2021</TotalTime>
  <Words>2266</Words>
  <Application>Microsoft Macintosh PowerPoint</Application>
  <PresentationFormat>Widescreen</PresentationFormat>
  <Paragraphs>259</Paragraphs>
  <Slides>21</Slides>
  <Notes>21</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compile-sast — BSides Houston 2026</dc:title>
  <dc:subject>PptxGenJS Presentation</dc:subject>
  <dc:creator>Whitney Zilton</dc:creator>
  <cp:lastModifiedBy>Zilton, Whitney</cp:lastModifiedBy>
  <cp:revision>4</cp:revision>
  <dcterms:created xsi:type="dcterms:W3CDTF">2026-09-17T04:03:54Z</dcterms:created>
  <dcterms:modified xsi:type="dcterms:W3CDTF">2026-09-18T15:04:50Z</dcterms:modified>
</cp:coreProperties>
</file>